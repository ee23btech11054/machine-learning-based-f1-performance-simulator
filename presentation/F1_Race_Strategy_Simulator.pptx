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two mathematical parts. First a regression problem: predict how a driver's lap time changes through a race. Second an optimisation: choose the pit strategy that minimises predicted race time. The question is whether the error of the first part is small enough for the second part to mean anything.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strategy s is a list of pit laps and tyre compounds. Its predicted race time is the sum of predicted lap times plus a fixed pit loss per stop. Each lap time is the driver's baseline pace B scaled by a learned function f-hat of the inputs on that lap, and those inputs depend on the strategy through tyre compound and tyre age. We want the strategy in the feasible set that minimises this. That raises two separate questions, at the bottom: how accurate is f-hat, and is the minimiser stable under its error. The answers differ.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Absolute lap time is dominated by the circuit and the car. Dividing by the driver's own baseline removes that multiplicative scale and leaves the quantity a strategy depends on: the percentage change in pace. The baseline is the median of up to eight clean laps between laps 2 and 12, so it is known early and no future information enters. The model is additive on this scale: y equals f of x plus an error. All nine inputs are known in advance for any hypothetical strategy, which is what allows the model to be used as a simulator. Data are real race laps from FastF1, split by season.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The naive reference predicts zero change. Its mean squared error decomposes exactly into squared bias plus variance of the response: cars get faster as fuel burns, the mean change is minus 1.18 percent, and that bias is why its R squared is negative. Ordinary least squares with six standardised numeric inputs and indicator variables for compound gives 0.930 on validation with almost no gap to training error, so it is a low-variance model. Adding a quadratic in tyre age and compound interactions, with a ridge penalty, does not help.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boosting builds the predictor as a sum of small regression trees. Start from the mean. At each step compute the negative gradient of the loss at the current fit; for squared loss that is just the residual. Fit a tree with J leaves to those residuals and add a fraction nu of it. Each leaf value is a shrunken mean of the residuals in the leaf, with an L2 penalty lambda in the denominator, and splits are chosen to maximise the gain shown. The chart is the fit stage by stage: validation error falls below linear regression after roughly a hundred trees and then flattens. Ten percent of training laps were held out internally for early stopping; it never triggered, so all 300 trees are 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squared error splits into squared bias, variance and irreducible noise. Leaves per tree control the trade. As J grows, training error keeps falling, but validation error is lowest at J equals 4 and then rises: with 31 leaves the boosted model is worse than linear regression. The reason is on the next slide: the data have far fewer independent observations than laps. The selected model was refitted on 2022 to 2024 and applied once to 2025: 0.835 seconds per lap against 1.558 for constant pace, R squared 0.44.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modelling step. The validation residual of driver-race d, stint j, lap l is split into a term shared by the whole race, a term shared by the stint, and a lap term. About a third of the error variance is the race-level term, which is mostly a misjudged baseline. The intraclass correlation is therefore 0.33. With 43 laps per driver-race the design effect is about 15, so 15 thousand validation laps carry the information of roughly one thousand independent ones. That is why the split must be by season and why small trees win. The three terms also behave differently in a strategy comparison, which the next slides use. The components are standard deviations of group means; they sum to slightly more than the pooled mean squared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Race time is baseline times the sum of one plus y over a hundred, so the race-time error is B over a hundred times the sum of lap errors. Under the three-level model its variance has three terms. The race-level term is perfectly correlated across laps and grows with N squared; lap noise grows only with N. So lap noise, 46 percent of lap variance, is 2 percent of race-time variance, and the race-level term is three quarters. Now the check: the variances were estimated on 2024. Applied to the 60 green-flag driver-races of 2025, the formula predicts a standard deviation of 28.0 seconds. The observed root mean squared error is 27.9. The standardised errors have standard deviation 1.03, where 1 is what the model implies. The histogram is rough rather than bell-shaped: sixty driver-races from a limited number of events, and drivers in the same race share conditions. So the size of the error is predicted out of sample; its exact shape is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feasible set has three constraints: every stint at least five laps, at least two different compounds as the rules require, and no stint beyond the 98th percentile of tyre age seen on that compound at that circuit, because trees cannot extrapolate. The set is small enough to enumerate. For the example, the 2025 Saudi Arabian Grand Prix winner, there are 90 one-stop and 702 two-stop candidates, 497 feasible, evaluated in one batched model call. So the minimiser is exact for the model: any error in the recommendation comes from R-hat, not from the search. The chart shows the problem. The objective is flat: 15 strategies are within two seconds of the best, while one standard deviation of the predicted time is 12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two strategies for the same driver are compared, the race-level error a cancels, because it shifts both equally. What remains is stint and lap error. For the example the recommended strategy is predicted 3.2 seconds faster than the team's, but the standard deviation of that difference is 18 seconds, treating the two races as independent draws; if the laps the two strategies have in common share their error it is 16 seconds, which changes nothing. The probability that the recommendation is really faster is Phi of 0.18, which is 0.57. A Monte Carlo of four thousand simulated races gives 0.578 with standard error 0.008, so simulation and formula agree. Barely better than a coin. Across all 182 driver-races the same thing shows up as disagreement with the teams: same number of stops in 65 percent, but the first pit lap is 8 laps away on average.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 The same driver runs three strategies at once on the real circuit outline: the minimiser s-hat, the team's real strategy, and one the user sets. Each lap is the model's prediction. With random variation switched on, each run draws one stint offset b per stint and one lap noise term per lap from the estimated distributions, so it is one Monte Carlo draw played out, and the finishing order changes between runs. Switch to the live app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failures, each stated as mathematics. First, selection: a lap at tyre age a is observed only if the stint lasted that long, and stints last when tyres hold up. So the observed mean at high age is below the true mean, f-hat is too optimistic about old tyres, and recommendations are later than the teams' in two thirds of cases, by 4.3 laps on average. Second, omitted variables: traffic and track position are not observed, which is why R squared is 0.44, and teams optimise for them. Third, safety cars change the pit loss and are not modelled; race time could only be checked on 60 of 182 driver-races. Fourth, resolution: the gains are far inside the error.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levels, three answers. At lap level the model halves the error of constant pace. At race level the variance model predicts the size of the error almost exactly on a new season. At decision level the predicted gain is a fifth of its standard deviation, so the argmin is not identified by the data. Accuracy has to be judged at the level of the decision.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640080" y="1188720"/>
            <a:ext cx="5486400" cy="274320"/>
          </a:xfrm>
          <a:prstGeom prst="rect">
            <a:avLst/>
          </a:prstGeom>
          <a:noFill/>
        </p:spPr>
        <p:txBody>
          <a:bodyPr wrap="square" lIns="0" rIns="0" tIns="0" bIns="0" anchor="t">
            <a:spAutoFit/>
          </a:bodyPr>
          <a:lstStyle/>
          <a:p>
            <a:pPr algn="l"/>
            <a:r>
              <a:rPr sz="1200" b="1" i="0">
                <a:solidFill>
                  <a:srgbClr val="E10600"/>
                </a:solidFill>
                <a:latin typeface="Arial"/>
              </a:rPr>
              <a:t>PREDICTIVE MODELLING · COURSE PROJECT</a:t>
            </a:r>
          </a:p>
        </p:txBody>
      </p:sp>
      <p:sp>
        <p:nvSpPr>
          <p:cNvPr id="3" name="TextBox 2"/>
          <p:cNvSpPr txBox="1"/>
          <p:nvPr/>
        </p:nvSpPr>
        <p:spPr>
          <a:xfrm>
            <a:off x="640080" y="1600200"/>
            <a:ext cx="5120640" cy="1920240"/>
          </a:xfrm>
          <a:prstGeom prst="rect">
            <a:avLst/>
          </a:prstGeom>
          <a:noFill/>
        </p:spPr>
        <p:txBody>
          <a:bodyPr wrap="square" lIns="0" rIns="0" tIns="0" bIns="0" anchor="t">
            <a:spAutoFit/>
          </a:bodyPr>
          <a:lstStyle/>
          <a:p>
            <a:pPr algn="l"/>
            <a:r>
              <a:rPr sz="4600" b="1" i="0">
                <a:solidFill>
                  <a:srgbClr val="FFFFFF"/>
                </a:solidFill>
                <a:latin typeface="Arial"/>
              </a:rPr>
              <a:t>Can a model call the pit stop?</a:t>
            </a:r>
          </a:p>
        </p:txBody>
      </p:sp>
      <p:sp>
        <p:nvSpPr>
          <p:cNvPr id="4" name="TextBox 3"/>
          <p:cNvSpPr txBox="1"/>
          <p:nvPr/>
        </p:nvSpPr>
        <p:spPr>
          <a:xfrm>
            <a:off x="640080" y="3657600"/>
            <a:ext cx="4846320" cy="1005840"/>
          </a:xfrm>
          <a:prstGeom prst="rect">
            <a:avLst/>
          </a:prstGeom>
          <a:noFill/>
        </p:spPr>
        <p:txBody>
          <a:bodyPr wrap="square" lIns="0" rIns="0" tIns="0" bIns="0" anchor="t">
            <a:spAutoFit/>
          </a:bodyPr>
          <a:lstStyle/>
          <a:p>
            <a:pPr algn="l"/>
            <a:r>
              <a:rPr sz="1800" b="0" i="0">
                <a:solidFill>
                  <a:srgbClr val="C9CDD2"/>
                </a:solidFill>
                <a:latin typeface="Calibri"/>
              </a:rPr>
              <a:t>A statistical model of lap time, the optimisation built on it, and whether its error allows a decision</a:t>
            </a:r>
          </a:p>
        </p:txBody>
      </p:sp>
      <p:pic>
        <p:nvPicPr>
          <p:cNvPr id="5" name="Equation" descr="\hat{s} \;=\; \underset{s \,\in\, \mathcal{S}}{\mathrm{arg\,min}}\;\; \hat{R}(s)"/>
          <p:cNvPicPr>
            <a:picLocks noChangeAspect="1"/>
          </p:cNvPicPr>
          <p:nvPr/>
        </p:nvPicPr>
        <p:blipFill>
          <a:blip r:embed="rId2"/>
          <a:stretch>
            <a:fillRect/>
          </a:stretch>
        </p:blipFill>
        <p:spPr>
          <a:xfrm>
            <a:off x="640080" y="4846320"/>
            <a:ext cx="2697734" cy="683514"/>
          </a:xfrm>
          <a:prstGeom prst="rect">
            <a:avLst/>
          </a:prstGeom>
        </p:spPr>
      </p:pic>
      <p:pic>
        <p:nvPicPr>
          <p:cNvPr id="6" name="Picture 5" descr="race_view.png"/>
          <p:cNvPicPr>
            <a:picLocks noChangeAspect="1"/>
          </p:cNvPicPr>
          <p:nvPr/>
        </p:nvPicPr>
        <p:blipFill>
          <a:blip r:embed="rId3"/>
          <a:stretch>
            <a:fillRect/>
          </a:stretch>
        </p:blipFill>
        <p:spPr>
          <a:xfrm>
            <a:off x="6080760" y="1737360"/>
            <a:ext cx="5577840" cy="311980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PROBLEM</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Pit strategy as an optimisation over a learned function</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2</a:t>
            </a:r>
          </a:p>
        </p:txBody>
      </p:sp>
      <p:sp>
        <p:nvSpPr>
          <p:cNvPr id="6" name="Rounded Rectangle 5"/>
          <p:cNvSpPr/>
          <p:nvPr/>
        </p:nvSpPr>
        <p:spPr>
          <a:xfrm>
            <a:off x="548640" y="1691640"/>
            <a:ext cx="6309360" cy="3154680"/>
          </a:xfrm>
          <a:prstGeom prst="roundRect">
            <a:avLst>
              <a:gd name="adj" fmla="val 4057"/>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01952"/>
            <a:ext cx="5486400" cy="237744"/>
          </a:xfrm>
          <a:prstGeom prst="rect">
            <a:avLst/>
          </a:prstGeom>
          <a:noFill/>
        </p:spPr>
        <p:txBody>
          <a:bodyPr wrap="square" lIns="0" rIns="0" tIns="0" bIns="0" anchor="t">
            <a:spAutoFit/>
          </a:bodyPr>
          <a:lstStyle/>
          <a:p>
            <a:pPr algn="l"/>
            <a:r>
              <a:rPr sz="1100" b="1" i="0">
                <a:solidFill>
                  <a:srgbClr val="E10600"/>
                </a:solidFill>
                <a:latin typeface="Arial"/>
              </a:rPr>
              <a:t>OBJECTIVE</a:t>
            </a:r>
          </a:p>
        </p:txBody>
      </p:sp>
      <p:pic>
        <p:nvPicPr>
          <p:cNvPr id="8" name="Equation" descr="\hat{s} \;=\; \underset{s \,\in\, \mathcal{S}}{\mathrm{arg\,min}}\;\; \hat{R}(s)"/>
          <p:cNvPicPr>
            <a:picLocks noChangeAspect="1"/>
          </p:cNvPicPr>
          <p:nvPr/>
        </p:nvPicPr>
        <p:blipFill>
          <a:blip r:embed="rId3"/>
          <a:stretch>
            <a:fillRect/>
          </a:stretch>
        </p:blipFill>
        <p:spPr>
          <a:xfrm>
            <a:off x="2302573" y="2240280"/>
            <a:ext cx="2801493" cy="709803"/>
          </a:xfrm>
          <a:prstGeom prst="rect">
            <a:avLst/>
          </a:prstGeom>
        </p:spPr>
      </p:pic>
      <p:sp>
        <p:nvSpPr>
          <p:cNvPr id="9" name="TextBox 8"/>
          <p:cNvSpPr txBox="1"/>
          <p:nvPr/>
        </p:nvSpPr>
        <p:spPr>
          <a:xfrm>
            <a:off x="868680" y="3246120"/>
            <a:ext cx="5486400" cy="237744"/>
          </a:xfrm>
          <a:prstGeom prst="rect">
            <a:avLst/>
          </a:prstGeom>
          <a:noFill/>
        </p:spPr>
        <p:txBody>
          <a:bodyPr wrap="square" lIns="0" rIns="0" tIns="0" bIns="0" anchor="t">
            <a:spAutoFit/>
          </a:bodyPr>
          <a:lstStyle/>
          <a:p>
            <a:pPr algn="l"/>
            <a:r>
              <a:rPr sz="1100" b="1" i="0">
                <a:solidFill>
                  <a:srgbClr val="E10600"/>
                </a:solidFill>
                <a:latin typeface="Arial"/>
              </a:rPr>
              <a:t>PREDICTED RACE TIME</a:t>
            </a:r>
          </a:p>
        </p:txBody>
      </p:sp>
      <p:pic>
        <p:nvPicPr>
          <p:cNvPr id="10" name="Equation" descr="\hat{R}(s) \;=\; \sum_{\ell=\ell_0}^{N} B\left(1+\dfrac{\hat{f}\,(x_\ell(s))}{100}\right)\;+\; k(s)\,P"/>
          <p:cNvPicPr>
            <a:picLocks noChangeAspect="1"/>
          </p:cNvPicPr>
          <p:nvPr/>
        </p:nvPicPr>
        <p:blipFill>
          <a:blip r:embed="rId4"/>
          <a:stretch>
            <a:fillRect/>
          </a:stretch>
        </p:blipFill>
        <p:spPr>
          <a:xfrm>
            <a:off x="1140142" y="3566160"/>
            <a:ext cx="5126355" cy="893826"/>
          </a:xfrm>
          <a:prstGeom prst="rect">
            <a:avLst/>
          </a:prstGeom>
        </p:spPr>
      </p:pic>
      <p:sp>
        <p:nvSpPr>
          <p:cNvPr id="11" name="Rounded Rectangle 10"/>
          <p:cNvSpPr/>
          <p:nvPr/>
        </p:nvSpPr>
        <p:spPr>
          <a:xfrm>
            <a:off x="7040880" y="1691640"/>
            <a:ext cx="4599432" cy="3154680"/>
          </a:xfrm>
          <a:prstGeom prst="roundRect">
            <a:avLst>
              <a:gd name="adj" fmla="val 4057"/>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1901952"/>
            <a:ext cx="5486400" cy="237744"/>
          </a:xfrm>
          <a:prstGeom prst="rect">
            <a:avLst/>
          </a:prstGeom>
          <a:noFill/>
        </p:spPr>
        <p:txBody>
          <a:bodyPr wrap="square" lIns="0" rIns="0" tIns="0" bIns="0" anchor="t">
            <a:spAutoFit/>
          </a:bodyPr>
          <a:lstStyle/>
          <a:p>
            <a:pPr algn="l"/>
            <a:r>
              <a:rPr sz="1100" b="1" i="0">
                <a:solidFill>
                  <a:srgbClr val="14171A"/>
                </a:solidFill>
                <a:latin typeface="Arial"/>
              </a:rPr>
              <a:t>NOTATION</a:t>
            </a:r>
          </a:p>
        </p:txBody>
      </p:sp>
      <p:pic>
        <p:nvPicPr>
          <p:cNvPr id="13" name="Equation" descr="s"/>
          <p:cNvPicPr>
            <a:picLocks noChangeAspect="1"/>
          </p:cNvPicPr>
          <p:nvPr/>
        </p:nvPicPr>
        <p:blipFill>
          <a:blip r:embed="rId5"/>
          <a:stretch>
            <a:fillRect/>
          </a:stretch>
        </p:blipFill>
        <p:spPr>
          <a:xfrm>
            <a:off x="7315200" y="2330704"/>
            <a:ext cx="132080" cy="239776"/>
          </a:xfrm>
          <a:prstGeom prst="rect">
            <a:avLst/>
          </a:prstGeom>
        </p:spPr>
      </p:pic>
      <p:sp>
        <p:nvSpPr>
          <p:cNvPr id="14" name="TextBox 13"/>
          <p:cNvSpPr txBox="1"/>
          <p:nvPr/>
        </p:nvSpPr>
        <p:spPr>
          <a:xfrm>
            <a:off x="8366760" y="2286000"/>
            <a:ext cx="3154680" cy="329184"/>
          </a:xfrm>
          <a:prstGeom prst="rect">
            <a:avLst/>
          </a:prstGeom>
          <a:noFill/>
        </p:spPr>
        <p:txBody>
          <a:bodyPr wrap="square" lIns="0" rIns="0" tIns="0" bIns="0" anchor="ctr">
            <a:spAutoFit/>
          </a:bodyPr>
          <a:lstStyle/>
          <a:p>
            <a:pPr algn="l"/>
            <a:r>
              <a:rPr sz="1400" b="0" i="0">
                <a:solidFill>
                  <a:srgbClr val="1E2226"/>
                </a:solidFill>
                <a:latin typeface="Calibri"/>
              </a:rPr>
              <a:t>strategy: pit laps and tyre compounds</a:t>
            </a:r>
          </a:p>
        </p:txBody>
      </p:sp>
      <p:pic>
        <p:nvPicPr>
          <p:cNvPr id="15" name="Equation" descr="B"/>
          <p:cNvPicPr>
            <a:picLocks noChangeAspect="1"/>
          </p:cNvPicPr>
          <p:nvPr/>
        </p:nvPicPr>
        <p:blipFill>
          <a:blip r:embed="rId6"/>
          <a:stretch>
            <a:fillRect/>
          </a:stretch>
        </p:blipFill>
        <p:spPr>
          <a:xfrm>
            <a:off x="7315200" y="2742184"/>
            <a:ext cx="191008" cy="239776"/>
          </a:xfrm>
          <a:prstGeom prst="rect">
            <a:avLst/>
          </a:prstGeom>
        </p:spPr>
      </p:pic>
      <p:sp>
        <p:nvSpPr>
          <p:cNvPr id="16" name="TextBox 15"/>
          <p:cNvSpPr txBox="1"/>
          <p:nvPr/>
        </p:nvSpPr>
        <p:spPr>
          <a:xfrm>
            <a:off x="8366760" y="2697480"/>
            <a:ext cx="3154680" cy="329184"/>
          </a:xfrm>
          <a:prstGeom prst="rect">
            <a:avLst/>
          </a:prstGeom>
          <a:noFill/>
        </p:spPr>
        <p:txBody>
          <a:bodyPr wrap="square" lIns="0" rIns="0" tIns="0" bIns="0" anchor="ctr">
            <a:spAutoFit/>
          </a:bodyPr>
          <a:lstStyle/>
          <a:p>
            <a:pPr algn="l"/>
            <a:r>
              <a:rPr sz="1400" b="0" i="0">
                <a:solidFill>
                  <a:srgbClr val="1E2226"/>
                </a:solidFill>
                <a:latin typeface="Calibri"/>
              </a:rPr>
              <a:t>baseline pace of the driver, seconds</a:t>
            </a:r>
          </a:p>
        </p:txBody>
      </p:sp>
      <p:pic>
        <p:nvPicPr>
          <p:cNvPr id="17" name="Equation" descr="\hat{f}"/>
          <p:cNvPicPr>
            <a:picLocks noChangeAspect="1"/>
          </p:cNvPicPr>
          <p:nvPr/>
        </p:nvPicPr>
        <p:blipFill>
          <a:blip r:embed="rId7"/>
          <a:stretch>
            <a:fillRect/>
          </a:stretch>
        </p:blipFill>
        <p:spPr>
          <a:xfrm>
            <a:off x="7315200" y="3130296"/>
            <a:ext cx="136144" cy="286512"/>
          </a:xfrm>
          <a:prstGeom prst="rect">
            <a:avLst/>
          </a:prstGeom>
        </p:spPr>
      </p:pic>
      <p:sp>
        <p:nvSpPr>
          <p:cNvPr id="18" name="TextBox 17"/>
          <p:cNvSpPr txBox="1"/>
          <p:nvPr/>
        </p:nvSpPr>
        <p:spPr>
          <a:xfrm>
            <a:off x="8366760" y="3108960"/>
            <a:ext cx="3154680" cy="329184"/>
          </a:xfrm>
          <a:prstGeom prst="rect">
            <a:avLst/>
          </a:prstGeom>
          <a:noFill/>
        </p:spPr>
        <p:txBody>
          <a:bodyPr wrap="square" lIns="0" rIns="0" tIns="0" bIns="0" anchor="ctr">
            <a:spAutoFit/>
          </a:bodyPr>
          <a:lstStyle/>
          <a:p>
            <a:pPr algn="l"/>
            <a:r>
              <a:rPr sz="1400" b="0" i="0">
                <a:solidFill>
                  <a:srgbClr val="1E2226"/>
                </a:solidFill>
                <a:latin typeface="Calibri"/>
              </a:rPr>
              <a:t>learned model: % change in pace</a:t>
            </a:r>
          </a:p>
        </p:txBody>
      </p:sp>
      <p:pic>
        <p:nvPicPr>
          <p:cNvPr id="19" name="Equation" descr="x_\ell(s)"/>
          <p:cNvPicPr>
            <a:picLocks noChangeAspect="1"/>
          </p:cNvPicPr>
          <p:nvPr/>
        </p:nvPicPr>
        <p:blipFill>
          <a:blip r:embed="rId8"/>
          <a:stretch>
            <a:fillRect/>
          </a:stretch>
        </p:blipFill>
        <p:spPr>
          <a:xfrm>
            <a:off x="7315200" y="3565144"/>
            <a:ext cx="477519" cy="239775"/>
          </a:xfrm>
          <a:prstGeom prst="rect">
            <a:avLst/>
          </a:prstGeom>
        </p:spPr>
      </p:pic>
      <p:sp>
        <p:nvSpPr>
          <p:cNvPr id="20" name="TextBox 19"/>
          <p:cNvSpPr txBox="1"/>
          <p:nvPr/>
        </p:nvSpPr>
        <p:spPr>
          <a:xfrm>
            <a:off x="8366760" y="3520440"/>
            <a:ext cx="3154680" cy="329184"/>
          </a:xfrm>
          <a:prstGeom prst="rect">
            <a:avLst/>
          </a:prstGeom>
          <a:noFill/>
        </p:spPr>
        <p:txBody>
          <a:bodyPr wrap="square" lIns="0" rIns="0" tIns="0" bIns="0" anchor="ctr">
            <a:spAutoFit/>
          </a:bodyPr>
          <a:lstStyle/>
          <a:p>
            <a:pPr algn="l"/>
            <a:r>
              <a:rPr sz="1400" b="0" i="0">
                <a:solidFill>
                  <a:srgbClr val="1E2226"/>
                </a:solidFill>
                <a:latin typeface="Calibri"/>
              </a:rPr>
              <a:t>inputs on lap ℓ under strategy s</a:t>
            </a:r>
          </a:p>
        </p:txBody>
      </p:sp>
      <p:pic>
        <p:nvPicPr>
          <p:cNvPr id="21" name="Equation" descr="k(s),\; P"/>
          <p:cNvPicPr>
            <a:picLocks noChangeAspect="1"/>
          </p:cNvPicPr>
          <p:nvPr/>
        </p:nvPicPr>
        <p:blipFill>
          <a:blip r:embed="rId9"/>
          <a:stretch>
            <a:fillRect/>
          </a:stretch>
        </p:blipFill>
        <p:spPr>
          <a:xfrm>
            <a:off x="7315200" y="3976623"/>
            <a:ext cx="680720" cy="239776"/>
          </a:xfrm>
          <a:prstGeom prst="rect">
            <a:avLst/>
          </a:prstGeom>
        </p:spPr>
      </p:pic>
      <p:sp>
        <p:nvSpPr>
          <p:cNvPr id="22" name="TextBox 21"/>
          <p:cNvSpPr txBox="1"/>
          <p:nvPr/>
        </p:nvSpPr>
        <p:spPr>
          <a:xfrm>
            <a:off x="8366760" y="3931920"/>
            <a:ext cx="3154680" cy="329184"/>
          </a:xfrm>
          <a:prstGeom prst="rect">
            <a:avLst/>
          </a:prstGeom>
          <a:noFill/>
        </p:spPr>
        <p:txBody>
          <a:bodyPr wrap="square" lIns="0" rIns="0" tIns="0" bIns="0" anchor="ctr">
            <a:spAutoFit/>
          </a:bodyPr>
          <a:lstStyle/>
          <a:p>
            <a:pPr algn="l"/>
            <a:r>
              <a:rPr sz="1400" b="0" i="0">
                <a:solidFill>
                  <a:srgbClr val="1E2226"/>
                </a:solidFill>
                <a:latin typeface="Calibri"/>
              </a:rPr>
              <a:t>number of stops, time lost per stop</a:t>
            </a:r>
          </a:p>
        </p:txBody>
      </p:sp>
      <p:pic>
        <p:nvPicPr>
          <p:cNvPr id="23" name="Equation" descr="\mathcal{S}"/>
          <p:cNvPicPr>
            <a:picLocks noChangeAspect="1"/>
          </p:cNvPicPr>
          <p:nvPr/>
        </p:nvPicPr>
        <p:blipFill>
          <a:blip r:embed="rId10"/>
          <a:stretch>
            <a:fillRect/>
          </a:stretch>
        </p:blipFill>
        <p:spPr>
          <a:xfrm>
            <a:off x="7315200" y="4388104"/>
            <a:ext cx="160527" cy="239775"/>
          </a:xfrm>
          <a:prstGeom prst="rect">
            <a:avLst/>
          </a:prstGeom>
        </p:spPr>
      </p:pic>
      <p:sp>
        <p:nvSpPr>
          <p:cNvPr id="24" name="TextBox 23"/>
          <p:cNvSpPr txBox="1"/>
          <p:nvPr/>
        </p:nvSpPr>
        <p:spPr>
          <a:xfrm>
            <a:off x="8366760" y="4343400"/>
            <a:ext cx="3154680" cy="329184"/>
          </a:xfrm>
          <a:prstGeom prst="rect">
            <a:avLst/>
          </a:prstGeom>
          <a:noFill/>
        </p:spPr>
        <p:txBody>
          <a:bodyPr wrap="square" lIns="0" rIns="0" tIns="0" bIns="0" anchor="ctr">
            <a:spAutoFit/>
          </a:bodyPr>
          <a:lstStyle/>
          <a:p>
            <a:pPr algn="l"/>
            <a:r>
              <a:rPr sz="1400" b="0" i="0">
                <a:solidFill>
                  <a:srgbClr val="1E2226"/>
                </a:solidFill>
                <a:latin typeface="Calibri"/>
              </a:rPr>
              <a:t>feasible strategies (tyre rules)</a:t>
            </a:r>
          </a:p>
        </p:txBody>
      </p:sp>
      <p:sp>
        <p:nvSpPr>
          <p:cNvPr id="25" name="Rounded Rectangle 24"/>
          <p:cNvSpPr/>
          <p:nvPr/>
        </p:nvSpPr>
        <p:spPr>
          <a:xfrm>
            <a:off x="548640" y="5029200"/>
            <a:ext cx="5458968" cy="10972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536752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27" name="TextBox 26"/>
          <p:cNvSpPr txBox="1"/>
          <p:nvPr/>
        </p:nvSpPr>
        <p:spPr>
          <a:xfrm>
            <a:off x="1417319" y="5138928"/>
            <a:ext cx="4389120" cy="365760"/>
          </a:xfrm>
          <a:prstGeom prst="rect">
            <a:avLst/>
          </a:prstGeom>
          <a:noFill/>
        </p:spPr>
        <p:txBody>
          <a:bodyPr wrap="square" lIns="0" rIns="0" tIns="0" bIns="0" anchor="ctr">
            <a:spAutoFit/>
          </a:bodyPr>
          <a:lstStyle/>
          <a:p>
            <a:pPr algn="l"/>
            <a:r>
              <a:rPr sz="1500" b="1" i="0">
                <a:solidFill>
                  <a:srgbClr val="14171A"/>
                </a:solidFill>
                <a:latin typeface="Arial"/>
              </a:rPr>
              <a:t>Statistics: how accurate is the estimate?</a:t>
            </a:r>
          </a:p>
        </p:txBody>
      </p:sp>
      <p:sp>
        <p:nvSpPr>
          <p:cNvPr id="28" name="TextBox 27"/>
          <p:cNvSpPr txBox="1"/>
          <p:nvPr/>
        </p:nvSpPr>
        <p:spPr>
          <a:xfrm>
            <a:off x="1417319" y="5532120"/>
            <a:ext cx="4389120" cy="502920"/>
          </a:xfrm>
          <a:prstGeom prst="rect">
            <a:avLst/>
          </a:prstGeom>
          <a:noFill/>
        </p:spPr>
        <p:txBody>
          <a:bodyPr wrap="square" lIns="0" rIns="0" tIns="0" bIns="0" anchor="t">
            <a:spAutoFit/>
          </a:bodyPr>
          <a:lstStyle/>
          <a:p>
            <a:pPr algn="l"/>
            <a:r>
              <a:rPr sz="1400" b="0" i="0">
                <a:solidFill>
                  <a:srgbClr val="5B6168"/>
                </a:solidFill>
                <a:latin typeface="Calibri"/>
              </a:rPr>
              <a:t>Race time within 0.57% on an unseen season.</a:t>
            </a:r>
          </a:p>
        </p:txBody>
      </p:sp>
      <p:sp>
        <p:nvSpPr>
          <p:cNvPr id="29" name="Rounded Rectangle 28"/>
          <p:cNvSpPr/>
          <p:nvPr/>
        </p:nvSpPr>
        <p:spPr>
          <a:xfrm>
            <a:off x="6181344" y="5029200"/>
            <a:ext cx="5458968" cy="10972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9944" y="5367528"/>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31" name="TextBox 30"/>
          <p:cNvSpPr txBox="1"/>
          <p:nvPr/>
        </p:nvSpPr>
        <p:spPr>
          <a:xfrm>
            <a:off x="7050024" y="5138928"/>
            <a:ext cx="4389120" cy="365760"/>
          </a:xfrm>
          <a:prstGeom prst="rect">
            <a:avLst/>
          </a:prstGeom>
          <a:noFill/>
        </p:spPr>
        <p:txBody>
          <a:bodyPr wrap="square" lIns="0" rIns="0" tIns="0" bIns="0" anchor="ctr">
            <a:spAutoFit/>
          </a:bodyPr>
          <a:lstStyle/>
          <a:p>
            <a:pPr algn="l"/>
            <a:r>
              <a:rPr sz="1500" b="1" i="0">
                <a:solidFill>
                  <a:srgbClr val="14171A"/>
                </a:solidFill>
                <a:latin typeface="Arial"/>
              </a:rPr>
              <a:t>Decision: is the minimiser stable?</a:t>
            </a:r>
          </a:p>
        </p:txBody>
      </p:sp>
      <p:sp>
        <p:nvSpPr>
          <p:cNvPr id="32" name="TextBox 31"/>
          <p:cNvSpPr txBox="1"/>
          <p:nvPr/>
        </p:nvSpPr>
        <p:spPr>
          <a:xfrm>
            <a:off x="7050024" y="5532120"/>
            <a:ext cx="4389120" cy="502920"/>
          </a:xfrm>
          <a:prstGeom prst="rect">
            <a:avLst/>
          </a:prstGeom>
          <a:noFill/>
        </p:spPr>
        <p:txBody>
          <a:bodyPr wrap="square" lIns="0" rIns="0" tIns="0" bIns="0" anchor="t">
            <a:spAutoFit/>
          </a:bodyPr>
          <a:lstStyle/>
          <a:p>
            <a:pPr algn="l"/>
            <a:r>
              <a:rPr sz="1400" b="0" i="0">
                <a:solidFill>
                  <a:srgbClr val="5B6168"/>
                </a:solidFill>
                <a:latin typeface="Calibri"/>
              </a:rPr>
              <a:t>No. The recommended pit lap is 8 laps from the team's on average.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TARGET AND DATA</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The response is a ratio, so the circuit and car scale cancel</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3</a:t>
            </a:r>
          </a:p>
        </p:txBody>
      </p:sp>
      <p:sp>
        <p:nvSpPr>
          <p:cNvPr id="6" name="Rounded Rectangle 5"/>
          <p:cNvSpPr/>
          <p:nvPr/>
        </p:nvSpPr>
        <p:spPr>
          <a:xfrm>
            <a:off x="548640" y="1691640"/>
            <a:ext cx="5486400" cy="4434840"/>
          </a:xfrm>
          <a:prstGeom prst="roundRect">
            <a:avLst>
              <a:gd name="adj" fmla="val 2886"/>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5486400" cy="237744"/>
          </a:xfrm>
          <a:prstGeom prst="rect">
            <a:avLst/>
          </a:prstGeom>
          <a:noFill/>
        </p:spPr>
        <p:txBody>
          <a:bodyPr wrap="square" lIns="0" rIns="0" tIns="0" bIns="0" anchor="t">
            <a:spAutoFit/>
          </a:bodyPr>
          <a:lstStyle/>
          <a:p>
            <a:pPr algn="l"/>
            <a:r>
              <a:rPr sz="1100" b="1" i="0">
                <a:solidFill>
                  <a:srgbClr val="E10600"/>
                </a:solidFill>
                <a:latin typeface="Arial"/>
              </a:rPr>
              <a:t>RESPONSE</a:t>
            </a:r>
          </a:p>
        </p:txBody>
      </p:sp>
      <p:pic>
        <p:nvPicPr>
          <p:cNvPr id="8" name="Equation" descr="y_\ell \;=\; 100\left(\dfrac{T_\ell}{B}-1\right)"/>
          <p:cNvPicPr>
            <a:picLocks noChangeAspect="1"/>
          </p:cNvPicPr>
          <p:nvPr/>
        </p:nvPicPr>
        <p:blipFill>
          <a:blip r:embed="rId3"/>
          <a:stretch>
            <a:fillRect/>
          </a:stretch>
        </p:blipFill>
        <p:spPr>
          <a:xfrm>
            <a:off x="868680" y="2148840"/>
            <a:ext cx="2511552" cy="679704"/>
          </a:xfrm>
          <a:prstGeom prst="rect">
            <a:avLst/>
          </a:prstGeom>
        </p:spPr>
      </p:pic>
      <p:sp>
        <p:nvSpPr>
          <p:cNvPr id="9" name="TextBox 8"/>
          <p:cNvSpPr txBox="1"/>
          <p:nvPr/>
        </p:nvSpPr>
        <p:spPr>
          <a:xfrm>
            <a:off x="868680" y="3063240"/>
            <a:ext cx="5486400" cy="237744"/>
          </a:xfrm>
          <a:prstGeom prst="rect">
            <a:avLst/>
          </a:prstGeom>
          <a:noFill/>
        </p:spPr>
        <p:txBody>
          <a:bodyPr wrap="square" lIns="0" rIns="0" tIns="0" bIns="0" anchor="t">
            <a:spAutoFit/>
          </a:bodyPr>
          <a:lstStyle/>
          <a:p>
            <a:pPr algn="l"/>
            <a:r>
              <a:rPr sz="1100" b="1" i="0">
                <a:solidFill>
                  <a:srgbClr val="E10600"/>
                </a:solidFill>
                <a:latin typeface="Arial"/>
              </a:rPr>
              <a:t>BASELINE</a:t>
            </a:r>
          </a:p>
        </p:txBody>
      </p:sp>
      <p:pic>
        <p:nvPicPr>
          <p:cNvPr id="10" name="Equation" descr="B \;=\; \mathrm{median}\,\{\,T_\ell \;:\; \ell \in \mathcal{B}\,\},\qquad \mathcal{B} \subset \{2,\dots,12\},\;\; |\mathcal{B}| \leq 8"/>
          <p:cNvPicPr>
            <a:picLocks noChangeAspect="1"/>
          </p:cNvPicPr>
          <p:nvPr/>
        </p:nvPicPr>
        <p:blipFill>
          <a:blip r:embed="rId4"/>
          <a:stretch>
            <a:fillRect/>
          </a:stretch>
        </p:blipFill>
        <p:spPr>
          <a:xfrm>
            <a:off x="868680" y="3364992"/>
            <a:ext cx="4846320" cy="272678"/>
          </a:xfrm>
          <a:prstGeom prst="rect">
            <a:avLst/>
          </a:prstGeom>
        </p:spPr>
      </p:pic>
      <p:sp>
        <p:nvSpPr>
          <p:cNvPr id="11" name="TextBox 10"/>
          <p:cNvSpPr txBox="1"/>
          <p:nvPr/>
        </p:nvSpPr>
        <p:spPr>
          <a:xfrm>
            <a:off x="868680" y="3977639"/>
            <a:ext cx="5486400" cy="237744"/>
          </a:xfrm>
          <a:prstGeom prst="rect">
            <a:avLst/>
          </a:prstGeom>
          <a:noFill/>
        </p:spPr>
        <p:txBody>
          <a:bodyPr wrap="square" lIns="0" rIns="0" tIns="0" bIns="0" anchor="t">
            <a:spAutoFit/>
          </a:bodyPr>
          <a:lstStyle/>
          <a:p>
            <a:pPr algn="l"/>
            <a:r>
              <a:rPr sz="1100" b="1" i="0">
                <a:solidFill>
                  <a:srgbClr val="E10600"/>
                </a:solidFill>
                <a:latin typeface="Arial"/>
              </a:rPr>
              <a:t>MODEL AND ITS INVERSE</a:t>
            </a:r>
          </a:p>
        </p:txBody>
      </p:sp>
      <p:pic>
        <p:nvPicPr>
          <p:cNvPr id="12" name="Equation" descr="y_\ell = f(x_\ell) + e_\ell \qquad\quad \hat{T}_\ell = B\left(1+\dfrac{\hat{f}(x_\ell)}{100}\right)"/>
          <p:cNvPicPr>
            <a:picLocks noChangeAspect="1"/>
          </p:cNvPicPr>
          <p:nvPr/>
        </p:nvPicPr>
        <p:blipFill>
          <a:blip r:embed="rId5"/>
          <a:stretch>
            <a:fillRect/>
          </a:stretch>
        </p:blipFill>
        <p:spPr>
          <a:xfrm>
            <a:off x="868680" y="4279392"/>
            <a:ext cx="4057650" cy="594360"/>
          </a:xfrm>
          <a:prstGeom prst="rect">
            <a:avLst/>
          </a:prstGeom>
        </p:spPr>
      </p:pic>
      <p:sp>
        <p:nvSpPr>
          <p:cNvPr id="13" name="TextBox 12"/>
          <p:cNvSpPr txBox="1"/>
          <p:nvPr/>
        </p:nvSpPr>
        <p:spPr>
          <a:xfrm>
            <a:off x="868680" y="5166360"/>
            <a:ext cx="4846320" cy="731520"/>
          </a:xfrm>
          <a:prstGeom prst="rect">
            <a:avLst/>
          </a:prstGeom>
          <a:noFill/>
        </p:spPr>
        <p:txBody>
          <a:bodyPr wrap="square" lIns="0" rIns="0" tIns="0" bIns="0" anchor="t">
            <a:spAutoFit/>
          </a:bodyPr>
          <a:lstStyle/>
          <a:p>
            <a:pPr algn="l"/>
            <a:r>
              <a:rPr sz="1400" b="0" i="0">
                <a:solidFill>
                  <a:srgbClr val="C9CDD2"/>
                </a:solidFill>
                <a:latin typeface="Calibri"/>
              </a:rPr>
              <a:t>B is fixed a few laps into the race, so predicting later laps from it uses no future information.</a:t>
            </a:r>
          </a:p>
        </p:txBody>
      </p:sp>
      <p:sp>
        <p:nvSpPr>
          <p:cNvPr id="14" name="Rounded Rectangle 13"/>
          <p:cNvSpPr/>
          <p:nvPr/>
        </p:nvSpPr>
        <p:spPr>
          <a:xfrm>
            <a:off x="6309360" y="1691640"/>
            <a:ext cx="5330952" cy="2331720"/>
          </a:xfrm>
          <a:prstGeom prst="roundRect">
            <a:avLst>
              <a:gd name="adj" fmla="val 549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Equation" descr="x \in \mathbb{R}^6 \times \{\mathrm{categories}\}^3"/>
          <p:cNvPicPr>
            <a:picLocks noChangeAspect="1"/>
          </p:cNvPicPr>
          <p:nvPr/>
        </p:nvPicPr>
        <p:blipFill>
          <a:blip r:embed="rId6"/>
          <a:stretch>
            <a:fillRect/>
          </a:stretch>
        </p:blipFill>
        <p:spPr>
          <a:xfrm>
            <a:off x="6583680" y="1856231"/>
            <a:ext cx="2189226" cy="302260"/>
          </a:xfrm>
          <a:prstGeom prst="rect">
            <a:avLst/>
          </a:prstGeom>
        </p:spPr>
      </p:pic>
      <p:sp>
        <p:nvSpPr>
          <p:cNvPr id="16" name="TextBox 15"/>
          <p:cNvSpPr txBox="1"/>
          <p:nvPr/>
        </p:nvSpPr>
        <p:spPr>
          <a:xfrm>
            <a:off x="6583680" y="2395728"/>
            <a:ext cx="2468880" cy="1554480"/>
          </a:xfrm>
          <a:prstGeom prst="rect">
            <a:avLst/>
          </a:prstGeom>
          <a:noFill/>
        </p:spPr>
        <p:txBody>
          <a:bodyPr wrap="square" lIns="0" rIns="0" tIns="0" bIns="0" anchor="t">
            <a:spAutoFit/>
          </a:bodyPr>
          <a:lstStyle/>
          <a:p>
            <a:pPr algn="l"/>
            <a:r>
              <a:rPr sz="1400" b="0" i="0">
                <a:solidFill>
                  <a:srgbClr val="1E2226"/>
                </a:solidFill>
                <a:latin typeface="Calibri"/>
              </a:rPr>
              <a:t>Tyre age a (laps)</a:t>
            </a:r>
          </a:p>
          <a:p>
            <a:pPr algn="l">
              <a:spcBef>
                <a:spcPts val="300"/>
              </a:spcBef>
            </a:pPr>
            <a:r>
              <a:rPr sz="1400" b="0" i="0">
                <a:solidFill>
                  <a:srgbClr val="1E2226"/>
                </a:solidFill>
                <a:latin typeface="Calibri"/>
              </a:rPr>
              <a:t>Fuel burned since baseline / N</a:t>
            </a:r>
          </a:p>
          <a:p>
            <a:pPr algn="l">
              <a:spcBef>
                <a:spcPts val="300"/>
              </a:spcBef>
            </a:pPr>
            <a:r>
              <a:rPr sz="1400" b="0" i="0">
                <a:solidFill>
                  <a:srgbClr val="1E2226"/>
                </a:solidFill>
                <a:latin typeface="Calibri"/>
              </a:rPr>
              <a:t>Race progress ℓ / N</a:t>
            </a:r>
          </a:p>
          <a:p>
            <a:pPr algn="l">
              <a:spcBef>
                <a:spcPts val="300"/>
              </a:spcBef>
            </a:pPr>
            <a:r>
              <a:rPr sz="1400" b="0" i="0">
                <a:solidFill>
                  <a:srgbClr val="1E2226"/>
                </a:solidFill>
                <a:latin typeface="Calibri"/>
              </a:rPr>
              <a:t>Race length N</a:t>
            </a:r>
          </a:p>
          <a:p>
            <a:pPr algn="l">
              <a:spcBef>
                <a:spcPts val="300"/>
              </a:spcBef>
            </a:pPr>
            <a:r>
              <a:rPr sz="1400" b="0" i="0">
                <a:solidFill>
                  <a:srgbClr val="1E2226"/>
                </a:solidFill>
                <a:latin typeface="Calibri"/>
              </a:rPr>
              <a:t>Baseline tyre age</a:t>
            </a:r>
          </a:p>
        </p:txBody>
      </p:sp>
      <p:sp>
        <p:nvSpPr>
          <p:cNvPr id="17" name="TextBox 16"/>
          <p:cNvSpPr txBox="1"/>
          <p:nvPr/>
        </p:nvSpPr>
        <p:spPr>
          <a:xfrm>
            <a:off x="9006840" y="2395728"/>
            <a:ext cx="2560320" cy="1554480"/>
          </a:xfrm>
          <a:prstGeom prst="rect">
            <a:avLst/>
          </a:prstGeom>
          <a:noFill/>
        </p:spPr>
        <p:txBody>
          <a:bodyPr wrap="square" lIns="0" rIns="0" tIns="0" bIns="0" anchor="t">
            <a:spAutoFit/>
          </a:bodyPr>
          <a:lstStyle/>
          <a:p>
            <a:pPr algn="l"/>
            <a:r>
              <a:rPr sz="1400" b="0" i="0">
                <a:solidFill>
                  <a:srgbClr val="1E2226"/>
                </a:solidFill>
                <a:latin typeface="Calibri"/>
              </a:rPr>
              <a:t>Baseline track temperature</a:t>
            </a:r>
          </a:p>
          <a:p>
            <a:pPr algn="l">
              <a:spcBef>
                <a:spcPts val="300"/>
              </a:spcBef>
            </a:pPr>
            <a:r>
              <a:rPr sz="1400" b="0" i="0">
                <a:solidFill>
                  <a:srgbClr val="1E2226"/>
                </a:solidFill>
                <a:latin typeface="Calibri"/>
              </a:rPr>
              <a:t>Compound c: soft, medium, hard</a:t>
            </a:r>
          </a:p>
          <a:p>
            <a:pPr algn="l">
              <a:spcBef>
                <a:spcPts val="300"/>
              </a:spcBef>
            </a:pPr>
            <a:r>
              <a:rPr sz="1400" b="0" i="0">
                <a:solidFill>
                  <a:srgbClr val="1E2226"/>
                </a:solidFill>
                <a:latin typeface="Calibri"/>
              </a:rPr>
              <a:t>Baseline compound</a:t>
            </a:r>
          </a:p>
          <a:p>
            <a:pPr algn="l">
              <a:spcBef>
                <a:spcPts val="300"/>
              </a:spcBef>
            </a:pPr>
            <a:r>
              <a:rPr sz="1400" b="0" i="0">
                <a:solidFill>
                  <a:srgbClr val="1E2226"/>
                </a:solidFill>
                <a:latin typeface="Calibri"/>
              </a:rPr>
              <a:t>Circuit</a:t>
            </a:r>
          </a:p>
        </p:txBody>
      </p:sp>
      <p:graphicFrame>
        <p:nvGraphicFramePr>
          <p:cNvPr id="18" name="Table 17"/>
          <p:cNvGraphicFramePr>
            <a:graphicFrameLocks noGrp="1"/>
          </p:cNvGraphicFramePr>
          <p:nvPr/>
        </p:nvGraphicFramePr>
        <p:xfrm>
          <a:off x="6309360" y="4206240"/>
          <a:ext cx="5330951" cy="1463040"/>
        </p:xfrm>
        <a:graphic>
          <a:graphicData uri="http://schemas.openxmlformats.org/drawingml/2006/table">
            <a:tbl>
              <a:tblPr firstRow="1" bandRow="1">
                <a:tableStyleId>{5C22544A-7EE6-4342-B048-85BDC9FD1C3A}</a:tableStyleId>
              </a:tblPr>
              <a:tblGrid>
                <a:gridCol w="1421587"/>
                <a:gridCol w="1540052"/>
                <a:gridCol w="1184656"/>
                <a:gridCol w="1184656"/>
              </a:tblGrid>
              <a:tr h="365760">
                <a:tc>
                  <a:txBody>
                    <a:bodyPr/>
                    <a:lstStyle/>
                    <a:p>
                      <a:pPr algn="l"/>
                      <a:r>
                        <a:rPr sz="1400" b="1">
                          <a:solidFill>
                            <a:srgbClr val="FFFFFF"/>
                          </a:solidFill>
                          <a:latin typeface="Calibri"/>
                        </a:rPr>
                        <a:t>Split</a:t>
                      </a:r>
                    </a:p>
                  </a:txBody>
                  <a:tcPr marL="109728" marR="109728" marT="27432" marB="27432" anchor="ctr">
                    <a:solidFill>
                      <a:srgbClr val="14171A"/>
                    </a:solidFill>
                  </a:tcPr>
                </a:tc>
                <a:tc>
                  <a:txBody>
                    <a:bodyPr/>
                    <a:lstStyle/>
                    <a:p>
                      <a:pPr algn="l"/>
                      <a:r>
                        <a:rPr sz="1400" b="1">
                          <a:solidFill>
                            <a:srgbClr val="FFFFFF"/>
                          </a:solidFill>
                          <a:latin typeface="Calibri"/>
                        </a:rPr>
                        <a:t>Seasons</a:t>
                      </a:r>
                    </a:p>
                  </a:txBody>
                  <a:tcPr marL="109728" marR="109728" marT="27432" marB="27432" anchor="ctr">
                    <a:solidFill>
                      <a:srgbClr val="14171A"/>
                    </a:solidFill>
                  </a:tcPr>
                </a:tc>
                <a:tc>
                  <a:txBody>
                    <a:bodyPr/>
                    <a:lstStyle/>
                    <a:p>
                      <a:pPr algn="r"/>
                      <a:r>
                        <a:rPr sz="1400" b="1">
                          <a:solidFill>
                            <a:srgbClr val="FFFFFF"/>
                          </a:solidFill>
                          <a:latin typeface="Calibri"/>
                        </a:rPr>
                        <a:t>Dry races</a:t>
                      </a:r>
                    </a:p>
                  </a:txBody>
                  <a:tcPr marL="109728" marR="109728" marT="27432" marB="27432" anchor="ctr">
                    <a:solidFill>
                      <a:srgbClr val="14171A"/>
                    </a:solidFill>
                  </a:tcPr>
                </a:tc>
                <a:tc>
                  <a:txBody>
                    <a:bodyPr/>
                    <a:lstStyle/>
                    <a:p>
                      <a:pPr algn="r"/>
                      <a:r>
                        <a:rPr sz="1400" b="1">
                          <a:solidFill>
                            <a:srgbClr val="FFFFFF"/>
                          </a:solidFill>
                          <a:latin typeface="Calibri"/>
                        </a:rPr>
                        <a:t>Laps n</a:t>
                      </a:r>
                    </a:p>
                  </a:txBody>
                  <a:tcPr marL="109728" marR="109728" marT="27432" marB="27432" anchor="ctr">
                    <a:solidFill>
                      <a:srgbClr val="14171A"/>
                    </a:solidFill>
                  </a:tcPr>
                </a:tc>
              </a:tr>
              <a:tr h="365760">
                <a:tc>
                  <a:txBody>
                    <a:bodyPr/>
                    <a:lstStyle/>
                    <a:p>
                      <a:pPr algn="l"/>
                      <a:r>
                        <a:rPr sz="1400" b="0">
                          <a:solidFill>
                            <a:srgbClr val="1E2226"/>
                          </a:solidFill>
                          <a:latin typeface="Calibri"/>
                        </a:rPr>
                        <a:t>Train</a:t>
                      </a:r>
                    </a:p>
                  </a:txBody>
                  <a:tcPr marL="109728" marR="109728" marT="27432" marB="27432" anchor="ctr">
                    <a:solidFill>
                      <a:srgbClr val="F2F3F5"/>
                    </a:solidFill>
                  </a:tcPr>
                </a:tc>
                <a:tc>
                  <a:txBody>
                    <a:bodyPr/>
                    <a:lstStyle/>
                    <a:p>
                      <a:pPr algn="l"/>
                      <a:r>
                        <a:rPr sz="1400" b="0">
                          <a:solidFill>
                            <a:srgbClr val="1E2226"/>
                          </a:solidFill>
                          <a:latin typeface="Calibri"/>
                        </a:rPr>
                        <a:t>2022, 2023</a:t>
                      </a:r>
                    </a:p>
                  </a:txBody>
                  <a:tcPr marL="109728" marR="109728" marT="27432" marB="27432" anchor="ctr">
                    <a:solidFill>
                      <a:srgbClr val="F2F3F5"/>
                    </a:solidFill>
                  </a:tcPr>
                </a:tc>
                <a:tc>
                  <a:txBody>
                    <a:bodyPr/>
                    <a:lstStyle/>
                    <a:p>
                      <a:pPr algn="r"/>
                      <a:r>
                        <a:rPr sz="1400" b="0">
                          <a:solidFill>
                            <a:srgbClr val="1E2226"/>
                          </a:solidFill>
                          <a:latin typeface="Calibri"/>
                        </a:rPr>
                        <a:t>35</a:t>
                      </a:r>
                    </a:p>
                  </a:txBody>
                  <a:tcPr marL="109728" marR="109728" marT="27432" marB="27432" anchor="ctr">
                    <a:solidFill>
                      <a:srgbClr val="F2F3F5"/>
                    </a:solidFill>
                  </a:tcPr>
                </a:tc>
                <a:tc>
                  <a:txBody>
                    <a:bodyPr/>
                    <a:lstStyle/>
                    <a:p>
                      <a:pPr algn="r"/>
                      <a:r>
                        <a:rPr sz="1400" b="0">
                          <a:solidFill>
                            <a:srgbClr val="1E2226"/>
                          </a:solidFill>
                          <a:latin typeface="Calibri"/>
                        </a:rPr>
                        <a:t>24,039</a:t>
                      </a:r>
                    </a:p>
                  </a:txBody>
                  <a:tcPr marL="109728" marR="109728" marT="27432" marB="27432" anchor="ctr">
                    <a:solidFill>
                      <a:srgbClr val="F2F3F5"/>
                    </a:solidFill>
                  </a:tcPr>
                </a:tc>
              </a:tr>
              <a:tr h="365760">
                <a:tc>
                  <a:txBody>
                    <a:bodyPr/>
                    <a:lstStyle/>
                    <a:p>
                      <a:pPr algn="l"/>
                      <a:r>
                        <a:rPr sz="1400" b="0">
                          <a:solidFill>
                            <a:srgbClr val="1E2226"/>
                          </a:solidFill>
                          <a:latin typeface="Calibri"/>
                        </a:rPr>
                        <a:t>Validation</a:t>
                      </a:r>
                    </a:p>
                  </a:txBody>
                  <a:tcPr marL="109728" marR="109728" marT="27432" marB="27432" anchor="ctr">
                    <a:solidFill>
                      <a:srgbClr val="FFFFFF"/>
                    </a:solidFill>
                  </a:tcPr>
                </a:tc>
                <a:tc>
                  <a:txBody>
                    <a:bodyPr/>
                    <a:lstStyle/>
                    <a:p>
                      <a:pPr algn="l"/>
                      <a:r>
                        <a:rPr sz="1400" b="0">
                          <a:solidFill>
                            <a:srgbClr val="1E2226"/>
                          </a:solidFill>
                          <a:latin typeface="Calibri"/>
                        </a:rPr>
                        <a:t>2024</a:t>
                      </a:r>
                    </a:p>
                  </a:txBody>
                  <a:tcPr marL="109728" marR="109728" marT="27432" marB="27432" anchor="ctr">
                    <a:solidFill>
                      <a:srgbClr val="FFFFFF"/>
                    </a:solidFill>
                  </a:tcPr>
                </a:tc>
                <a:tc>
                  <a:txBody>
                    <a:bodyPr/>
                    <a:lstStyle/>
                    <a:p>
                      <a:pPr algn="r"/>
                      <a:r>
                        <a:rPr sz="1400" b="0">
                          <a:solidFill>
                            <a:srgbClr val="1E2226"/>
                          </a:solidFill>
                          <a:latin typeface="Calibri"/>
                        </a:rPr>
                        <a:t>19</a:t>
                      </a:r>
                    </a:p>
                  </a:txBody>
                  <a:tcPr marL="109728" marR="109728" marT="27432" marB="27432" anchor="ctr">
                    <a:solidFill>
                      <a:srgbClr val="FFFFFF"/>
                    </a:solidFill>
                  </a:tcPr>
                </a:tc>
                <a:tc>
                  <a:txBody>
                    <a:bodyPr/>
                    <a:lstStyle/>
                    <a:p>
                      <a:pPr algn="r"/>
                      <a:r>
                        <a:rPr sz="1400" b="0">
                          <a:solidFill>
                            <a:srgbClr val="1E2226"/>
                          </a:solidFill>
                          <a:latin typeface="Calibri"/>
                        </a:rPr>
                        <a:t>15,332</a:t>
                      </a:r>
                    </a:p>
                  </a:txBody>
                  <a:tcPr marL="109728" marR="109728" marT="27432" marB="27432" anchor="ctr">
                    <a:solidFill>
                      <a:srgbClr val="FFFFFF"/>
                    </a:solidFill>
                  </a:tcPr>
                </a:tc>
              </a:tr>
              <a:tr h="365760">
                <a:tc>
                  <a:txBody>
                    <a:bodyPr/>
                    <a:lstStyle/>
                    <a:p>
                      <a:pPr algn="l"/>
                      <a:r>
                        <a:rPr sz="1400" b="0">
                          <a:solidFill>
                            <a:srgbClr val="1E2226"/>
                          </a:solidFill>
                          <a:latin typeface="Calibri"/>
                        </a:rPr>
                        <a:t>Test</a:t>
                      </a:r>
                    </a:p>
                  </a:txBody>
                  <a:tcPr marL="109728" marR="109728" marT="27432" marB="27432" anchor="ctr">
                    <a:solidFill>
                      <a:srgbClr val="F2F3F5"/>
                    </a:solidFill>
                  </a:tcPr>
                </a:tc>
                <a:tc>
                  <a:txBody>
                    <a:bodyPr/>
                    <a:lstStyle/>
                    <a:p>
                      <a:pPr algn="l"/>
                      <a:r>
                        <a:rPr sz="1400" b="0">
                          <a:solidFill>
                            <a:srgbClr val="1E2226"/>
                          </a:solidFill>
                          <a:latin typeface="Calibri"/>
                        </a:rPr>
                        <a:t>2025</a:t>
                      </a:r>
                    </a:p>
                  </a:txBody>
                  <a:tcPr marL="109728" marR="109728" marT="27432" marB="27432" anchor="ctr">
                    <a:solidFill>
                      <a:srgbClr val="F2F3F5"/>
                    </a:solidFill>
                  </a:tcPr>
                </a:tc>
                <a:tc>
                  <a:txBody>
                    <a:bodyPr/>
                    <a:lstStyle/>
                    <a:p>
                      <a:pPr algn="r"/>
                      <a:r>
                        <a:rPr sz="1400" b="0">
                          <a:solidFill>
                            <a:srgbClr val="1E2226"/>
                          </a:solidFill>
                          <a:latin typeface="Calibri"/>
                        </a:rPr>
                        <a:t>21</a:t>
                      </a:r>
                    </a:p>
                  </a:txBody>
                  <a:tcPr marL="109728" marR="109728" marT="27432" marB="27432" anchor="ctr">
                    <a:solidFill>
                      <a:srgbClr val="F2F3F5"/>
                    </a:solidFill>
                  </a:tcPr>
                </a:tc>
                <a:tc>
                  <a:txBody>
                    <a:bodyPr/>
                    <a:lstStyle/>
                    <a:p>
                      <a:pPr algn="r"/>
                      <a:r>
                        <a:rPr sz="1400" b="0">
                          <a:solidFill>
                            <a:srgbClr val="1E2226"/>
                          </a:solidFill>
                          <a:latin typeface="Calibri"/>
                        </a:rPr>
                        <a:t>15,844</a:t>
                      </a:r>
                    </a:p>
                  </a:txBody>
                  <a:tcPr marL="109728" marR="109728" marT="27432" marB="27432" anchor="ctr">
                    <a:solidFill>
                      <a:srgbClr val="F2F3F5"/>
                    </a:solidFill>
                  </a:tcPr>
                </a:tc>
              </a:tr>
            </a:tbl>
          </a:graphicData>
        </a:graphic>
      </p:graphicFrame>
      <p:sp>
        <p:nvSpPr>
          <p:cNvPr id="19" name="TextBox 18"/>
          <p:cNvSpPr txBox="1"/>
          <p:nvPr/>
        </p:nvSpPr>
        <p:spPr>
          <a:xfrm>
            <a:off x="6309360" y="5760720"/>
            <a:ext cx="5330952" cy="457200"/>
          </a:xfrm>
          <a:prstGeom prst="rect">
            <a:avLst/>
          </a:prstGeom>
          <a:noFill/>
        </p:spPr>
        <p:txBody>
          <a:bodyPr wrap="square" lIns="0" rIns="0" tIns="0" bIns="0" anchor="t">
            <a:spAutoFit/>
          </a:bodyPr>
          <a:lstStyle/>
          <a:p>
            <a:pPr algn="l"/>
            <a:r>
              <a:rPr sz="1300" b="0" i="0">
                <a:solidFill>
                  <a:srgbClr val="5B6168"/>
                </a:solidFill>
                <a:latin typeface="Calibri"/>
              </a:rPr>
              <a:t>Split by season, not at random: errors within one race are correlated (ρ ≈ 0.33, slide 7), so a random split would leak.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REFERENCE AND LINEAR MODELS</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Constant pace is biased; a linear model fixes most of it</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4</a:t>
            </a:r>
          </a:p>
        </p:txBody>
      </p:sp>
      <p:sp>
        <p:nvSpPr>
          <p:cNvPr id="6" name="Rounded Rectangle 5"/>
          <p:cNvSpPr/>
          <p:nvPr/>
        </p:nvSpPr>
        <p:spPr>
          <a:xfrm>
            <a:off x="548640" y="1691640"/>
            <a:ext cx="5989320" cy="13716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19656"/>
            <a:ext cx="5486400" cy="237744"/>
          </a:xfrm>
          <a:prstGeom prst="rect">
            <a:avLst/>
          </a:prstGeom>
          <a:noFill/>
        </p:spPr>
        <p:txBody>
          <a:bodyPr wrap="square" lIns="0" rIns="0" tIns="0" bIns="0" anchor="t">
            <a:spAutoFit/>
          </a:bodyPr>
          <a:lstStyle/>
          <a:p>
            <a:pPr algn="l"/>
            <a:r>
              <a:rPr sz="1100" b="1" i="0">
                <a:solidFill>
                  <a:srgbClr val="14171A"/>
                </a:solidFill>
                <a:latin typeface="Arial"/>
              </a:rPr>
              <a:t>NO CHANGE (PREDICT ZERO)</a:t>
            </a:r>
          </a:p>
        </p:txBody>
      </p:sp>
      <p:pic>
        <p:nvPicPr>
          <p:cNvPr id="8" name="Equation" descr="\mathrm{MSE} = \bar{y}^{\,2} + s_y^2:\qquad 1.698^2 = 1.181^2 + 1.220^2"/>
          <p:cNvPicPr>
            <a:picLocks noChangeAspect="1"/>
          </p:cNvPicPr>
          <p:nvPr/>
        </p:nvPicPr>
        <p:blipFill>
          <a:blip r:embed="rId3"/>
          <a:stretch>
            <a:fillRect/>
          </a:stretch>
        </p:blipFill>
        <p:spPr>
          <a:xfrm>
            <a:off x="804672" y="2155952"/>
            <a:ext cx="4049775" cy="296672"/>
          </a:xfrm>
          <a:prstGeom prst="rect">
            <a:avLst/>
          </a:prstGeom>
        </p:spPr>
      </p:pic>
      <p:sp>
        <p:nvSpPr>
          <p:cNvPr id="9" name="TextBox 8"/>
          <p:cNvSpPr txBox="1"/>
          <p:nvPr/>
        </p:nvSpPr>
        <p:spPr>
          <a:xfrm>
            <a:off x="804672" y="2569464"/>
            <a:ext cx="5532120" cy="457200"/>
          </a:xfrm>
          <a:prstGeom prst="rect">
            <a:avLst/>
          </a:prstGeom>
          <a:noFill/>
        </p:spPr>
        <p:txBody>
          <a:bodyPr wrap="square" lIns="0" rIns="0" tIns="0" bIns="0" anchor="t">
            <a:spAutoFit/>
          </a:bodyPr>
          <a:lstStyle/>
          <a:p>
            <a:pPr algn="l"/>
            <a:r>
              <a:rPr sz="1300" b="0" i="0">
                <a:solidFill>
                  <a:srgbClr val="5B6168"/>
                </a:solidFill>
                <a:latin typeface="Calibri"/>
              </a:rPr>
              <a:t>Fuel burn makes cars faster: mean change 1.18% down. That bias gives R² = −0.94.</a:t>
            </a:r>
          </a:p>
        </p:txBody>
      </p:sp>
      <p:sp>
        <p:nvSpPr>
          <p:cNvPr id="10" name="Rounded Rectangle 9"/>
          <p:cNvSpPr/>
          <p:nvPr/>
        </p:nvSpPr>
        <p:spPr>
          <a:xfrm>
            <a:off x="548640" y="3182112"/>
            <a:ext cx="5989320" cy="13716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310128"/>
            <a:ext cx="5486400" cy="237744"/>
          </a:xfrm>
          <a:prstGeom prst="rect">
            <a:avLst/>
          </a:prstGeom>
          <a:noFill/>
        </p:spPr>
        <p:txBody>
          <a:bodyPr wrap="square" lIns="0" rIns="0" tIns="0" bIns="0" anchor="t">
            <a:spAutoFit/>
          </a:bodyPr>
          <a:lstStyle/>
          <a:p>
            <a:pPr algn="l"/>
            <a:r>
              <a:rPr sz="1100" b="1" i="0">
                <a:solidFill>
                  <a:srgbClr val="14171A"/>
                </a:solidFill>
                <a:latin typeface="Arial"/>
              </a:rPr>
              <a:t>LINEAR REGRESSION (LEAST SQUARES)</a:t>
            </a:r>
          </a:p>
        </p:txBody>
      </p:sp>
      <p:pic>
        <p:nvPicPr>
          <p:cNvPr id="12" name="Equation" descr="\hat{\beta} = \underset{\beta}{\mathrm{arg\,min}}\; \|y - X\beta\|^2 = (X^{\mathrm{T}}X)^{-1}X^{\mathrm{T}}y"/>
          <p:cNvPicPr>
            <a:picLocks noChangeAspect="1"/>
          </p:cNvPicPr>
          <p:nvPr/>
        </p:nvPicPr>
        <p:blipFill>
          <a:blip r:embed="rId4"/>
          <a:stretch>
            <a:fillRect/>
          </a:stretch>
        </p:blipFill>
        <p:spPr>
          <a:xfrm>
            <a:off x="804672" y="3571240"/>
            <a:ext cx="3517391" cy="447040"/>
          </a:xfrm>
          <a:prstGeom prst="rect">
            <a:avLst/>
          </a:prstGeom>
        </p:spPr>
      </p:pic>
      <p:sp>
        <p:nvSpPr>
          <p:cNvPr id="13" name="TextBox 12"/>
          <p:cNvSpPr txBox="1"/>
          <p:nvPr/>
        </p:nvSpPr>
        <p:spPr>
          <a:xfrm>
            <a:off x="804672" y="4059935"/>
            <a:ext cx="5532120" cy="457200"/>
          </a:xfrm>
          <a:prstGeom prst="rect">
            <a:avLst/>
          </a:prstGeom>
          <a:noFill/>
        </p:spPr>
        <p:txBody>
          <a:bodyPr wrap="square" lIns="0" rIns="0" tIns="0" bIns="0" anchor="t">
            <a:spAutoFit/>
          </a:bodyPr>
          <a:lstStyle/>
          <a:p>
            <a:pPr algn="l"/>
            <a:r>
              <a:rPr sz="1300" b="0" i="0">
                <a:solidFill>
                  <a:srgbClr val="5B6168"/>
                </a:solidFill>
                <a:latin typeface="Calibri"/>
              </a:rPr>
              <a:t>13 coefficients. RMSE: training 0.913%, validation 0.930%. Almost no gap: low variance.</a:t>
            </a:r>
          </a:p>
        </p:txBody>
      </p:sp>
      <p:sp>
        <p:nvSpPr>
          <p:cNvPr id="14" name="Rounded Rectangle 13"/>
          <p:cNvSpPr/>
          <p:nvPr/>
        </p:nvSpPr>
        <p:spPr>
          <a:xfrm>
            <a:off x="548640" y="4672583"/>
            <a:ext cx="5989320" cy="13716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800599"/>
            <a:ext cx="5486400" cy="237744"/>
          </a:xfrm>
          <a:prstGeom prst="rect">
            <a:avLst/>
          </a:prstGeom>
          <a:noFill/>
        </p:spPr>
        <p:txBody>
          <a:bodyPr wrap="square" lIns="0" rIns="0" tIns="0" bIns="0" anchor="t">
            <a:spAutoFit/>
          </a:bodyPr>
          <a:lstStyle/>
          <a:p>
            <a:pPr algn="l"/>
            <a:r>
              <a:rPr sz="1100" b="1" i="0">
                <a:solidFill>
                  <a:srgbClr val="14171A"/>
                </a:solidFill>
                <a:latin typeface="Arial"/>
              </a:rPr>
              <a:t>WEAR CURVE PER COMPOUND (RIDGE)</a:t>
            </a:r>
          </a:p>
        </p:txBody>
      </p:sp>
      <p:pic>
        <p:nvPicPr>
          <p:cNvPr id="16" name="Equation" descr="\min_{\beta}\; \|y - X\beta\|^2 + \alpha\,\|\beta\|^2,\qquad \alpha = 1"/>
          <p:cNvPicPr>
            <a:picLocks noChangeAspect="1"/>
          </p:cNvPicPr>
          <p:nvPr/>
        </p:nvPicPr>
        <p:blipFill>
          <a:blip r:embed="rId5"/>
          <a:stretch>
            <a:fillRect/>
          </a:stretch>
        </p:blipFill>
        <p:spPr>
          <a:xfrm>
            <a:off x="804672" y="5094224"/>
            <a:ext cx="3167888" cy="382016"/>
          </a:xfrm>
          <a:prstGeom prst="rect">
            <a:avLst/>
          </a:prstGeom>
        </p:spPr>
      </p:pic>
      <p:sp>
        <p:nvSpPr>
          <p:cNvPr id="17" name="TextBox 16"/>
          <p:cNvSpPr txBox="1"/>
          <p:nvPr/>
        </p:nvSpPr>
        <p:spPr>
          <a:xfrm>
            <a:off x="804672" y="5550407"/>
            <a:ext cx="5532120" cy="457200"/>
          </a:xfrm>
          <a:prstGeom prst="rect">
            <a:avLst/>
          </a:prstGeom>
          <a:noFill/>
        </p:spPr>
        <p:txBody>
          <a:bodyPr wrap="square" lIns="0" rIns="0" tIns="0" bIns="0" anchor="t">
            <a:spAutoFit/>
          </a:bodyPr>
          <a:lstStyle/>
          <a:p>
            <a:pPr algn="l"/>
            <a:r>
              <a:rPr sz="1300" b="0" i="0">
                <a:solidFill>
                  <a:srgbClr val="5B6168"/>
                </a:solidFill>
                <a:latin typeface="Calibri"/>
              </a:rPr>
              <a:t>Adds a² and a × compound terms. Validation 0.938%: the extra terms do not help.</a:t>
            </a:r>
          </a:p>
        </p:txBody>
      </p:sp>
      <p:sp>
        <p:nvSpPr>
          <p:cNvPr id="18" name="TextBox 17"/>
          <p:cNvSpPr txBox="1"/>
          <p:nvPr/>
        </p:nvSpPr>
        <p:spPr>
          <a:xfrm>
            <a:off x="6812280" y="1691640"/>
            <a:ext cx="4828032" cy="320040"/>
          </a:xfrm>
          <a:prstGeom prst="rect">
            <a:avLst/>
          </a:prstGeom>
          <a:noFill/>
        </p:spPr>
        <p:txBody>
          <a:bodyPr wrap="square" lIns="0" rIns="0" tIns="0" bIns="0" anchor="t">
            <a:spAutoFit/>
          </a:bodyPr>
          <a:lstStyle/>
          <a:p>
            <a:pPr algn="l"/>
            <a:r>
              <a:rPr sz="1500" b="1" i="0">
                <a:solidFill>
                  <a:srgbClr val="14171A"/>
                </a:solidFill>
                <a:latin typeface="Arial"/>
              </a:rPr>
              <a:t>Validation season 2024</a:t>
            </a:r>
          </a:p>
        </p:txBody>
      </p:sp>
      <p:graphicFrame>
        <p:nvGraphicFramePr>
          <p:cNvPr id="19" name="Table 18"/>
          <p:cNvGraphicFramePr>
            <a:graphicFrameLocks noGrp="1"/>
          </p:cNvGraphicFramePr>
          <p:nvPr/>
        </p:nvGraphicFramePr>
        <p:xfrm>
          <a:off x="6812280" y="2103120"/>
          <a:ext cx="4828030" cy="3072384"/>
        </p:xfrm>
        <a:graphic>
          <a:graphicData uri="http://schemas.openxmlformats.org/drawingml/2006/table">
            <a:tbl>
              <a:tblPr firstRow="1" bandRow="1">
                <a:tableStyleId>{5C22544A-7EE6-4342-B048-85BDC9FD1C3A}</a:tableStyleId>
              </a:tblPr>
              <a:tblGrid>
                <a:gridCol w="2373100"/>
                <a:gridCol w="818310"/>
                <a:gridCol w="818310"/>
                <a:gridCol w="818310"/>
              </a:tblGrid>
              <a:tr h="438912">
                <a:tc>
                  <a:txBody>
                    <a:bodyPr/>
                    <a:lstStyle/>
                    <a:p>
                      <a:pPr algn="l"/>
                      <a:r>
                        <a:rPr sz="1400" b="1">
                          <a:solidFill>
                            <a:srgbClr val="FFFFFF"/>
                          </a:solidFill>
                          <a:latin typeface="Calibri"/>
                        </a:rPr>
                        <a:t>Model</a:t>
                      </a:r>
                    </a:p>
                  </a:txBody>
                  <a:tcPr marL="109728" marR="109728" marT="27432" marB="27432" anchor="ctr">
                    <a:solidFill>
                      <a:srgbClr val="14171A"/>
                    </a:solidFill>
                  </a:tcPr>
                </a:tc>
                <a:tc>
                  <a:txBody>
                    <a:bodyPr/>
                    <a:lstStyle/>
                    <a:p>
                      <a:pPr algn="r"/>
                      <a:r>
                        <a:rPr sz="1400" b="1">
                          <a:solidFill>
                            <a:srgbClr val="FFFFFF"/>
                          </a:solidFill>
                          <a:latin typeface="Calibri"/>
                        </a:rPr>
                        <a:t>RMSE %</a:t>
                      </a:r>
                    </a:p>
                  </a:txBody>
                  <a:tcPr marL="109728" marR="109728" marT="27432" marB="27432" anchor="ctr">
                    <a:solidFill>
                      <a:srgbClr val="14171A"/>
                    </a:solidFill>
                  </a:tcPr>
                </a:tc>
                <a:tc>
                  <a:txBody>
                    <a:bodyPr/>
                    <a:lstStyle/>
                    <a:p>
                      <a:pPr algn="r"/>
                      <a:r>
                        <a:rPr sz="1400" b="1">
                          <a:solidFill>
                            <a:srgbClr val="FFFFFF"/>
                          </a:solidFill>
                          <a:latin typeface="Calibri"/>
                        </a:rPr>
                        <a:t>RMSE s</a:t>
                      </a:r>
                    </a:p>
                  </a:txBody>
                  <a:tcPr marL="109728" marR="109728" marT="27432" marB="27432" anchor="ctr">
                    <a:solidFill>
                      <a:srgbClr val="14171A"/>
                    </a:solidFill>
                  </a:tcPr>
                </a:tc>
                <a:tc>
                  <a:txBody>
                    <a:bodyPr/>
                    <a:lstStyle/>
                    <a:p>
                      <a:pPr algn="r"/>
                      <a:r>
                        <a:rPr sz="1400" b="1">
                          <a:solidFill>
                            <a:srgbClr val="FFFFFF"/>
                          </a:solidFill>
                          <a:latin typeface="Calibri"/>
                        </a:rPr>
                        <a:t>R²</a:t>
                      </a:r>
                    </a:p>
                  </a:txBody>
                  <a:tcPr marL="109728" marR="109728" marT="27432" marB="27432" anchor="ctr">
                    <a:solidFill>
                      <a:srgbClr val="14171A"/>
                    </a:solidFill>
                  </a:tcPr>
                </a:tc>
              </a:tr>
              <a:tr h="438912">
                <a:tc>
                  <a:txBody>
                    <a:bodyPr/>
                    <a:lstStyle/>
                    <a:p>
                      <a:pPr algn="l"/>
                      <a:r>
                        <a:rPr sz="1400" b="0">
                          <a:solidFill>
                            <a:srgbClr val="1E2226"/>
                          </a:solidFill>
                          <a:latin typeface="Calibri"/>
                        </a:rPr>
                        <a:t>Gradient boosting</a:t>
                      </a:r>
                    </a:p>
                  </a:txBody>
                  <a:tcPr marL="109728" marR="109728" marT="27432" marB="27432" anchor="ctr">
                    <a:solidFill>
                      <a:srgbClr val="F2F3F5"/>
                    </a:solidFill>
                  </a:tcPr>
                </a:tc>
                <a:tc>
                  <a:txBody>
                    <a:bodyPr/>
                    <a:lstStyle/>
                    <a:p>
                      <a:pPr algn="r"/>
                      <a:r>
                        <a:rPr sz="1400" b="0">
                          <a:solidFill>
                            <a:srgbClr val="1E2226"/>
                          </a:solidFill>
                          <a:latin typeface="Calibri"/>
                        </a:rPr>
                        <a:t>0.902</a:t>
                      </a:r>
                    </a:p>
                  </a:txBody>
                  <a:tcPr marL="109728" marR="109728" marT="27432" marB="27432" anchor="ctr">
                    <a:solidFill>
                      <a:srgbClr val="F2F3F5"/>
                    </a:solidFill>
                  </a:tcPr>
                </a:tc>
                <a:tc>
                  <a:txBody>
                    <a:bodyPr/>
                    <a:lstStyle/>
                    <a:p>
                      <a:pPr algn="r"/>
                      <a:r>
                        <a:rPr sz="1400" b="0">
                          <a:solidFill>
                            <a:srgbClr val="1E2226"/>
                          </a:solidFill>
                          <a:latin typeface="Calibri"/>
                        </a:rPr>
                        <a:t>0.798</a:t>
                      </a:r>
                    </a:p>
                  </a:txBody>
                  <a:tcPr marL="109728" marR="109728" marT="27432" marB="27432" anchor="ctr">
                    <a:solidFill>
                      <a:srgbClr val="F2F3F5"/>
                    </a:solidFill>
                  </a:tcPr>
                </a:tc>
                <a:tc>
                  <a:txBody>
                    <a:bodyPr/>
                    <a:lstStyle/>
                    <a:p>
                      <a:pPr algn="r"/>
                      <a:r>
                        <a:rPr sz="1400" b="0">
                          <a:solidFill>
                            <a:srgbClr val="1E2226"/>
                          </a:solidFill>
                          <a:latin typeface="Calibri"/>
                        </a:rPr>
                        <a:t>0.454</a:t>
                      </a:r>
                    </a:p>
                  </a:txBody>
                  <a:tcPr marL="109728" marR="109728" marT="27432" marB="27432" anchor="ctr">
                    <a:solidFill>
                      <a:srgbClr val="F2F3F5"/>
                    </a:solidFill>
                  </a:tcPr>
                </a:tc>
              </a:tr>
              <a:tr h="438912">
                <a:tc>
                  <a:txBody>
                    <a:bodyPr/>
                    <a:lstStyle/>
                    <a:p>
                      <a:pPr algn="l"/>
                      <a:r>
                        <a:rPr sz="1400" b="0">
                          <a:solidFill>
                            <a:srgbClr val="1E2226"/>
                          </a:solidFill>
                          <a:latin typeface="Calibri"/>
                        </a:rPr>
                        <a:t>Boosting, monotone wear</a:t>
                      </a:r>
                    </a:p>
                  </a:txBody>
                  <a:tcPr marL="109728" marR="109728" marT="27432" marB="27432" anchor="ctr">
                    <a:solidFill>
                      <a:srgbClr val="FFFFFF"/>
                    </a:solidFill>
                  </a:tcPr>
                </a:tc>
                <a:tc>
                  <a:txBody>
                    <a:bodyPr/>
                    <a:lstStyle/>
                    <a:p>
                      <a:pPr algn="r"/>
                      <a:r>
                        <a:rPr sz="1400" b="0">
                          <a:solidFill>
                            <a:srgbClr val="1E2226"/>
                          </a:solidFill>
                          <a:latin typeface="Calibri"/>
                        </a:rPr>
                        <a:t>0.909</a:t>
                      </a:r>
                    </a:p>
                  </a:txBody>
                  <a:tcPr marL="109728" marR="109728" marT="27432" marB="27432" anchor="ctr">
                    <a:solidFill>
                      <a:srgbClr val="FFFFFF"/>
                    </a:solidFill>
                  </a:tcPr>
                </a:tc>
                <a:tc>
                  <a:txBody>
                    <a:bodyPr/>
                    <a:lstStyle/>
                    <a:p>
                      <a:pPr algn="r"/>
                      <a:r>
                        <a:rPr sz="1400" b="0">
                          <a:solidFill>
                            <a:srgbClr val="1E2226"/>
                          </a:solidFill>
                          <a:latin typeface="Calibri"/>
                        </a:rPr>
                        <a:t>0.803</a:t>
                      </a:r>
                    </a:p>
                  </a:txBody>
                  <a:tcPr marL="109728" marR="109728" marT="27432" marB="27432" anchor="ctr">
                    <a:solidFill>
                      <a:srgbClr val="FFFFFF"/>
                    </a:solidFill>
                  </a:tcPr>
                </a:tc>
                <a:tc>
                  <a:txBody>
                    <a:bodyPr/>
                    <a:lstStyle/>
                    <a:p>
                      <a:pPr algn="r"/>
                      <a:r>
                        <a:rPr sz="1400" b="0">
                          <a:solidFill>
                            <a:srgbClr val="1E2226"/>
                          </a:solidFill>
                          <a:latin typeface="Calibri"/>
                        </a:rPr>
                        <a:t>0.445</a:t>
                      </a:r>
                    </a:p>
                  </a:txBody>
                  <a:tcPr marL="109728" marR="109728" marT="27432" marB="27432" anchor="ctr">
                    <a:solidFill>
                      <a:srgbClr val="FFFFFF"/>
                    </a:solidFill>
                  </a:tcPr>
                </a:tc>
              </a:tr>
              <a:tr h="438912">
                <a:tc>
                  <a:txBody>
                    <a:bodyPr/>
                    <a:lstStyle/>
                    <a:p>
                      <a:pPr algn="l"/>
                      <a:r>
                        <a:rPr sz="1400" b="0">
                          <a:solidFill>
                            <a:srgbClr val="1E2226"/>
                          </a:solidFill>
                          <a:latin typeface="Calibri"/>
                        </a:rPr>
                        <a:t>Linear regression</a:t>
                      </a:r>
                    </a:p>
                  </a:txBody>
                  <a:tcPr marL="109728" marR="109728" marT="27432" marB="27432" anchor="ctr">
                    <a:solidFill>
                      <a:srgbClr val="F2F3F5"/>
                    </a:solidFill>
                  </a:tcPr>
                </a:tc>
                <a:tc>
                  <a:txBody>
                    <a:bodyPr/>
                    <a:lstStyle/>
                    <a:p>
                      <a:pPr algn="r"/>
                      <a:r>
                        <a:rPr sz="1400" b="0">
                          <a:solidFill>
                            <a:srgbClr val="1E2226"/>
                          </a:solidFill>
                          <a:latin typeface="Calibri"/>
                        </a:rPr>
                        <a:t>0.930</a:t>
                      </a:r>
                    </a:p>
                  </a:txBody>
                  <a:tcPr marL="109728" marR="109728" marT="27432" marB="27432" anchor="ctr">
                    <a:solidFill>
                      <a:srgbClr val="F2F3F5"/>
                    </a:solidFill>
                  </a:tcPr>
                </a:tc>
                <a:tc>
                  <a:txBody>
                    <a:bodyPr/>
                    <a:lstStyle/>
                    <a:p>
                      <a:pPr algn="r"/>
                      <a:r>
                        <a:rPr sz="1400" b="0">
                          <a:solidFill>
                            <a:srgbClr val="1E2226"/>
                          </a:solidFill>
                          <a:latin typeface="Calibri"/>
                        </a:rPr>
                        <a:t>0.822</a:t>
                      </a:r>
                    </a:p>
                  </a:txBody>
                  <a:tcPr marL="109728" marR="109728" marT="27432" marB="27432" anchor="ctr">
                    <a:solidFill>
                      <a:srgbClr val="F2F3F5"/>
                    </a:solidFill>
                  </a:tcPr>
                </a:tc>
                <a:tc>
                  <a:txBody>
                    <a:bodyPr/>
                    <a:lstStyle/>
                    <a:p>
                      <a:pPr algn="r"/>
                      <a:r>
                        <a:rPr sz="1400" b="0">
                          <a:solidFill>
                            <a:srgbClr val="1E2226"/>
                          </a:solidFill>
                          <a:latin typeface="Calibri"/>
                        </a:rPr>
                        <a:t>0.419</a:t>
                      </a:r>
                    </a:p>
                  </a:txBody>
                  <a:tcPr marL="109728" marR="109728" marT="27432" marB="27432" anchor="ctr">
                    <a:solidFill>
                      <a:srgbClr val="F2F3F5"/>
                    </a:solidFill>
                  </a:tcPr>
                </a:tc>
              </a:tr>
              <a:tr h="438912">
                <a:tc>
                  <a:txBody>
                    <a:bodyPr/>
                    <a:lstStyle/>
                    <a:p>
                      <a:pPr algn="l"/>
                      <a:r>
                        <a:rPr sz="1400" b="0">
                          <a:solidFill>
                            <a:srgbClr val="1E2226"/>
                          </a:solidFill>
                          <a:latin typeface="Calibri"/>
                        </a:rPr>
                        <a:t>Linear, wear per compound</a:t>
                      </a:r>
                    </a:p>
                  </a:txBody>
                  <a:tcPr marL="109728" marR="109728" marT="27432" marB="27432" anchor="ctr">
                    <a:solidFill>
                      <a:srgbClr val="FFFFFF"/>
                    </a:solidFill>
                  </a:tcPr>
                </a:tc>
                <a:tc>
                  <a:txBody>
                    <a:bodyPr/>
                    <a:lstStyle/>
                    <a:p>
                      <a:pPr algn="r"/>
                      <a:r>
                        <a:rPr sz="1400" b="0">
                          <a:solidFill>
                            <a:srgbClr val="1E2226"/>
                          </a:solidFill>
                          <a:latin typeface="Calibri"/>
                        </a:rPr>
                        <a:t>0.938</a:t>
                      </a:r>
                    </a:p>
                  </a:txBody>
                  <a:tcPr marL="109728" marR="109728" marT="27432" marB="27432" anchor="ctr">
                    <a:solidFill>
                      <a:srgbClr val="FFFFFF"/>
                    </a:solidFill>
                  </a:tcPr>
                </a:tc>
                <a:tc>
                  <a:txBody>
                    <a:bodyPr/>
                    <a:lstStyle/>
                    <a:p>
                      <a:pPr algn="r"/>
                      <a:r>
                        <a:rPr sz="1400" b="0">
                          <a:solidFill>
                            <a:srgbClr val="1E2226"/>
                          </a:solidFill>
                          <a:latin typeface="Calibri"/>
                        </a:rPr>
                        <a:t>0.828</a:t>
                      </a:r>
                    </a:p>
                  </a:txBody>
                  <a:tcPr marL="109728" marR="109728" marT="27432" marB="27432" anchor="ctr">
                    <a:solidFill>
                      <a:srgbClr val="FFFFFF"/>
                    </a:solidFill>
                  </a:tcPr>
                </a:tc>
                <a:tc>
                  <a:txBody>
                    <a:bodyPr/>
                    <a:lstStyle/>
                    <a:p>
                      <a:pPr algn="r"/>
                      <a:r>
                        <a:rPr sz="1400" b="0">
                          <a:solidFill>
                            <a:srgbClr val="1E2226"/>
                          </a:solidFill>
                          <a:latin typeface="Calibri"/>
                        </a:rPr>
                        <a:t>0.410</a:t>
                      </a:r>
                    </a:p>
                  </a:txBody>
                  <a:tcPr marL="109728" marR="109728" marT="27432" marB="27432" anchor="ctr">
                    <a:solidFill>
                      <a:srgbClr val="FFFFFF"/>
                    </a:solidFill>
                  </a:tcPr>
                </a:tc>
              </a:tr>
              <a:tr h="438912">
                <a:tc>
                  <a:txBody>
                    <a:bodyPr/>
                    <a:lstStyle/>
                    <a:p>
                      <a:pPr algn="l"/>
                      <a:r>
                        <a:rPr sz="1400" b="0">
                          <a:solidFill>
                            <a:srgbClr val="1E2226"/>
                          </a:solidFill>
                          <a:latin typeface="Calibri"/>
                        </a:rPr>
                        <a:t>Mean change (ŷ = ȳ)</a:t>
                      </a:r>
                    </a:p>
                  </a:txBody>
                  <a:tcPr marL="109728" marR="109728" marT="27432" marB="27432" anchor="ctr">
                    <a:solidFill>
                      <a:srgbClr val="F2F3F5"/>
                    </a:solidFill>
                  </a:tcPr>
                </a:tc>
                <a:tc>
                  <a:txBody>
                    <a:bodyPr/>
                    <a:lstStyle/>
                    <a:p>
                      <a:pPr algn="r"/>
                      <a:r>
                        <a:rPr sz="1400" b="0">
                          <a:solidFill>
                            <a:srgbClr val="1E2226"/>
                          </a:solidFill>
                          <a:latin typeface="Calibri"/>
                        </a:rPr>
                        <a:t>1.222</a:t>
                      </a:r>
                    </a:p>
                  </a:txBody>
                  <a:tcPr marL="109728" marR="109728" marT="27432" marB="27432" anchor="ctr">
                    <a:solidFill>
                      <a:srgbClr val="F2F3F5"/>
                    </a:solidFill>
                  </a:tcPr>
                </a:tc>
                <a:tc>
                  <a:txBody>
                    <a:bodyPr/>
                    <a:lstStyle/>
                    <a:p>
                      <a:pPr algn="r"/>
                      <a:r>
                        <a:rPr sz="1400" b="0">
                          <a:solidFill>
                            <a:srgbClr val="1E2226"/>
                          </a:solidFill>
                          <a:latin typeface="Calibri"/>
                        </a:rPr>
                        <a:t>1.084</a:t>
                      </a:r>
                    </a:p>
                  </a:txBody>
                  <a:tcPr marL="109728" marR="109728" marT="27432" marB="27432" anchor="ctr">
                    <a:solidFill>
                      <a:srgbClr val="F2F3F5"/>
                    </a:solidFill>
                  </a:tcPr>
                </a:tc>
                <a:tc>
                  <a:txBody>
                    <a:bodyPr/>
                    <a:lstStyle/>
                    <a:p>
                      <a:pPr algn="r"/>
                      <a:r>
                        <a:rPr sz="1400" b="0">
                          <a:solidFill>
                            <a:srgbClr val="1E2226"/>
                          </a:solidFill>
                          <a:latin typeface="Calibri"/>
                        </a:rPr>
                        <a:t>−0.002</a:t>
                      </a:r>
                    </a:p>
                  </a:txBody>
                  <a:tcPr marL="109728" marR="109728" marT="27432" marB="27432" anchor="ctr">
                    <a:solidFill>
                      <a:srgbClr val="F2F3F5"/>
                    </a:solidFill>
                  </a:tcPr>
                </a:tc>
              </a:tr>
              <a:tr h="438912">
                <a:tc>
                  <a:txBody>
                    <a:bodyPr/>
                    <a:lstStyle/>
                    <a:p>
                      <a:pPr algn="l"/>
                      <a:r>
                        <a:rPr sz="1400" b="0">
                          <a:solidFill>
                            <a:srgbClr val="1E2226"/>
                          </a:solidFill>
                          <a:latin typeface="Calibri"/>
                        </a:rPr>
                        <a:t>No change (ŷ = 0)</a:t>
                      </a:r>
                    </a:p>
                  </a:txBody>
                  <a:tcPr marL="109728" marR="109728" marT="27432" marB="27432" anchor="ctr">
                    <a:solidFill>
                      <a:srgbClr val="FFFFFF"/>
                    </a:solidFill>
                  </a:tcPr>
                </a:tc>
                <a:tc>
                  <a:txBody>
                    <a:bodyPr/>
                    <a:lstStyle/>
                    <a:p>
                      <a:pPr algn="r"/>
                      <a:r>
                        <a:rPr sz="1400" b="0">
                          <a:solidFill>
                            <a:srgbClr val="1E2226"/>
                          </a:solidFill>
                          <a:latin typeface="Calibri"/>
                        </a:rPr>
                        <a:t>1.698</a:t>
                      </a:r>
                    </a:p>
                  </a:txBody>
                  <a:tcPr marL="109728" marR="109728" marT="27432" marB="27432" anchor="ctr">
                    <a:solidFill>
                      <a:srgbClr val="FFFFFF"/>
                    </a:solidFill>
                  </a:tcPr>
                </a:tc>
                <a:tc>
                  <a:txBody>
                    <a:bodyPr/>
                    <a:lstStyle/>
                    <a:p>
                      <a:pPr algn="r"/>
                      <a:r>
                        <a:rPr sz="1400" b="0">
                          <a:solidFill>
                            <a:srgbClr val="1E2226"/>
                          </a:solidFill>
                          <a:latin typeface="Calibri"/>
                        </a:rPr>
                        <a:t>1.550</a:t>
                      </a:r>
                    </a:p>
                  </a:txBody>
                  <a:tcPr marL="109728" marR="109728" marT="27432" marB="27432" anchor="ctr">
                    <a:solidFill>
                      <a:srgbClr val="FFFFFF"/>
                    </a:solidFill>
                  </a:tcPr>
                </a:tc>
                <a:tc>
                  <a:txBody>
                    <a:bodyPr/>
                    <a:lstStyle/>
                    <a:p>
                      <a:pPr algn="r"/>
                      <a:r>
                        <a:rPr sz="1400" b="0">
                          <a:solidFill>
                            <a:srgbClr val="1E2226"/>
                          </a:solidFill>
                          <a:latin typeface="Calibri"/>
                        </a:rPr>
                        <a:t>−0.936</a:t>
                      </a:r>
                    </a:p>
                  </a:txBody>
                  <a:tcPr marL="109728" marR="109728" marT="27432" marB="27432" anchor="ctr">
                    <a:solidFill>
                      <a:srgbClr val="FFFFFF"/>
                    </a:solidFill>
                  </a:tcPr>
                </a:tc>
              </a:tr>
            </a:tbl>
          </a:graphicData>
        </a:graphic>
      </p:graphicFrame>
      <p:sp>
        <p:nvSpPr>
          <p:cNvPr id="20" name="TextBox 19"/>
          <p:cNvSpPr txBox="1"/>
          <p:nvPr/>
        </p:nvSpPr>
        <p:spPr>
          <a:xfrm>
            <a:off x="6812280" y="5349240"/>
            <a:ext cx="4828032" cy="685800"/>
          </a:xfrm>
          <a:prstGeom prst="rect">
            <a:avLst/>
          </a:prstGeom>
          <a:noFill/>
        </p:spPr>
        <p:txBody>
          <a:bodyPr wrap="square" lIns="0" rIns="0" tIns="0" bIns="0" anchor="t">
            <a:spAutoFit/>
          </a:bodyPr>
          <a:lstStyle/>
          <a:p>
            <a:pPr algn="l"/>
            <a:r>
              <a:rPr sz="1300" b="0" i="0">
                <a:solidFill>
                  <a:srgbClr val="5B6168"/>
                </a:solidFill>
                <a:latin typeface="Calibri"/>
              </a:rPr>
              <a:t>RMSE in % of baseline pace and in seconds per lap. Models were fitted on 2022–2023 and compared here; 2025 was not touched.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GRADIENT BOOSTING</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Boosting: gradient descent in function space</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5</a:t>
            </a:r>
          </a:p>
        </p:txBody>
      </p:sp>
      <p:sp>
        <p:nvSpPr>
          <p:cNvPr id="6" name="Rounded Rectangle 5"/>
          <p:cNvSpPr/>
          <p:nvPr/>
        </p:nvSpPr>
        <p:spPr>
          <a:xfrm>
            <a:off x="548640" y="1691640"/>
            <a:ext cx="5715000" cy="4434840"/>
          </a:xfrm>
          <a:prstGeom prst="roundRect">
            <a:avLst>
              <a:gd name="adj" fmla="val 2886"/>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47088"/>
            <a:ext cx="5486400" cy="237744"/>
          </a:xfrm>
          <a:prstGeom prst="rect">
            <a:avLst/>
          </a:prstGeom>
          <a:noFill/>
        </p:spPr>
        <p:txBody>
          <a:bodyPr wrap="square" lIns="0" rIns="0" tIns="0" bIns="0" anchor="t">
            <a:spAutoFit/>
          </a:bodyPr>
          <a:lstStyle/>
          <a:p>
            <a:pPr algn="l"/>
            <a:r>
              <a:rPr sz="1100" b="1" i="0">
                <a:solidFill>
                  <a:srgbClr val="E10600"/>
                </a:solidFill>
                <a:latin typeface="Arial"/>
              </a:rPr>
              <a:t>ADDITIVE MODEL</a:t>
            </a:r>
          </a:p>
        </p:txBody>
      </p:sp>
      <p:pic>
        <p:nvPicPr>
          <p:cNvPr id="8" name="Equation" descr="F_0(x)=\bar{y},\qquad F_m(x) = F_{m-1}(x) + \nu\, h_m(x)"/>
          <p:cNvPicPr>
            <a:picLocks noChangeAspect="1"/>
          </p:cNvPicPr>
          <p:nvPr/>
        </p:nvPicPr>
        <p:blipFill>
          <a:blip r:embed="rId3"/>
          <a:stretch>
            <a:fillRect/>
          </a:stretch>
        </p:blipFill>
        <p:spPr>
          <a:xfrm>
            <a:off x="868680" y="2335657"/>
            <a:ext cx="4543678" cy="284734"/>
          </a:xfrm>
          <a:prstGeom prst="rect">
            <a:avLst/>
          </a:prstGeom>
        </p:spPr>
      </p:pic>
      <p:sp>
        <p:nvSpPr>
          <p:cNvPr id="9" name="TextBox 8"/>
          <p:cNvSpPr txBox="1"/>
          <p:nvPr/>
        </p:nvSpPr>
        <p:spPr>
          <a:xfrm>
            <a:off x="868680" y="2761488"/>
            <a:ext cx="5486400" cy="237744"/>
          </a:xfrm>
          <a:prstGeom prst="rect">
            <a:avLst/>
          </a:prstGeom>
          <a:noFill/>
        </p:spPr>
        <p:txBody>
          <a:bodyPr wrap="square" lIns="0" rIns="0" tIns="0" bIns="0" anchor="t">
            <a:spAutoFit/>
          </a:bodyPr>
          <a:lstStyle/>
          <a:p>
            <a:pPr algn="l"/>
            <a:r>
              <a:rPr sz="1100" b="1" i="0">
                <a:solidFill>
                  <a:srgbClr val="E10600"/>
                </a:solidFill>
                <a:latin typeface="Arial"/>
              </a:rPr>
              <a:t>PSEUDO-RESIDUALS FOR SQUARED LOSS</a:t>
            </a:r>
          </a:p>
        </p:txBody>
      </p:sp>
      <p:pic>
        <p:nvPicPr>
          <p:cNvPr id="10" name="Equation" descr="r_{im} \;=\; -\,\dfrac{\partial L}{\partial F}\,(x_i) \;=\; y_i - F_{m-1}(x_i),\qquad L=\frac{1}{2}(y-F)^2"/>
          <p:cNvPicPr>
            <a:picLocks noChangeAspect="1"/>
          </p:cNvPicPr>
          <p:nvPr/>
        </p:nvPicPr>
        <p:blipFill>
          <a:blip r:embed="rId4"/>
          <a:stretch>
            <a:fillRect/>
          </a:stretch>
        </p:blipFill>
        <p:spPr>
          <a:xfrm>
            <a:off x="868680" y="3152360"/>
            <a:ext cx="5120640" cy="480127"/>
          </a:xfrm>
          <a:prstGeom prst="rect">
            <a:avLst/>
          </a:prstGeom>
        </p:spPr>
      </p:pic>
      <p:sp>
        <p:nvSpPr>
          <p:cNvPr id="11" name="TextBox 10"/>
          <p:cNvSpPr txBox="1"/>
          <p:nvPr/>
        </p:nvSpPr>
        <p:spPr>
          <a:xfrm>
            <a:off x="868680" y="3749039"/>
            <a:ext cx="5486400" cy="237744"/>
          </a:xfrm>
          <a:prstGeom prst="rect">
            <a:avLst/>
          </a:prstGeom>
          <a:noFill/>
        </p:spPr>
        <p:txBody>
          <a:bodyPr wrap="square" lIns="0" rIns="0" tIns="0" bIns="0" anchor="t">
            <a:spAutoFit/>
          </a:bodyPr>
          <a:lstStyle/>
          <a:p>
            <a:pPr algn="l"/>
            <a:r>
              <a:rPr sz="1100" b="1" i="0">
                <a:solidFill>
                  <a:srgbClr val="E10600"/>
                </a:solidFill>
                <a:latin typeface="Arial"/>
              </a:rPr>
              <a:t>LEAF VALUE</a:t>
            </a:r>
          </a:p>
        </p:txBody>
      </p:sp>
      <p:pic>
        <p:nvPicPr>
          <p:cNvPr id="12" name="Equation" descr="w_j \;=\; \dfrac{1}{n_j+\lambda}\sum_{i\in R_j} r_{im}"/>
          <p:cNvPicPr>
            <a:picLocks noChangeAspect="1"/>
          </p:cNvPicPr>
          <p:nvPr/>
        </p:nvPicPr>
        <p:blipFill>
          <a:blip r:embed="rId5"/>
          <a:stretch>
            <a:fillRect/>
          </a:stretch>
        </p:blipFill>
        <p:spPr>
          <a:xfrm>
            <a:off x="868680" y="4063364"/>
            <a:ext cx="2041398" cy="633222"/>
          </a:xfrm>
          <a:prstGeom prst="rect">
            <a:avLst/>
          </a:prstGeom>
        </p:spPr>
      </p:pic>
      <p:sp>
        <p:nvSpPr>
          <p:cNvPr id="13" name="TextBox 12"/>
          <p:cNvSpPr txBox="1"/>
          <p:nvPr/>
        </p:nvSpPr>
        <p:spPr>
          <a:xfrm>
            <a:off x="868680" y="4864608"/>
            <a:ext cx="5486400" cy="237744"/>
          </a:xfrm>
          <a:prstGeom prst="rect">
            <a:avLst/>
          </a:prstGeom>
          <a:noFill/>
        </p:spPr>
        <p:txBody>
          <a:bodyPr wrap="square" lIns="0" rIns="0" tIns="0" bIns="0" anchor="t">
            <a:spAutoFit/>
          </a:bodyPr>
          <a:lstStyle/>
          <a:p>
            <a:pPr algn="l"/>
            <a:r>
              <a:rPr sz="1100" b="1" i="0">
                <a:solidFill>
                  <a:srgbClr val="E10600"/>
                </a:solidFill>
                <a:latin typeface="Arial"/>
              </a:rPr>
              <a:t>SPLIT GAIN</a:t>
            </a:r>
          </a:p>
        </p:txBody>
      </p:sp>
      <p:pic>
        <p:nvPicPr>
          <p:cNvPr id="14" name="Equation" descr="\dfrac{1}{2}\left[\dfrac{G_L^2}{n_L+\lambda}+\dfrac{G_R^2}{n_R+\lambda}-\dfrac{G^2}{n+\lambda}\right],\qquad G=\sum_i r_{im}"/>
          <p:cNvPicPr>
            <a:picLocks noChangeAspect="1"/>
          </p:cNvPicPr>
          <p:nvPr/>
        </p:nvPicPr>
        <p:blipFill>
          <a:blip r:embed="rId6"/>
          <a:stretch>
            <a:fillRect/>
          </a:stretch>
        </p:blipFill>
        <p:spPr>
          <a:xfrm>
            <a:off x="868680" y="5183568"/>
            <a:ext cx="4287774" cy="623951"/>
          </a:xfrm>
          <a:prstGeom prst="rect">
            <a:avLst/>
          </a:prstGeom>
        </p:spPr>
      </p:pic>
      <p:pic>
        <p:nvPicPr>
          <p:cNvPr id="15" name="Picture 14" descr="fig_boosting.png"/>
          <p:cNvPicPr>
            <a:picLocks noChangeAspect="1"/>
          </p:cNvPicPr>
          <p:nvPr/>
        </p:nvPicPr>
        <p:blipFill>
          <a:blip r:embed="rId7"/>
          <a:stretch>
            <a:fillRect/>
          </a:stretch>
        </p:blipFill>
        <p:spPr>
          <a:xfrm>
            <a:off x="6492240" y="1691640"/>
            <a:ext cx="5148072" cy="3180292"/>
          </a:xfrm>
          <a:prstGeom prst="rect">
            <a:avLst/>
          </a:prstGeom>
        </p:spPr>
      </p:pic>
      <p:sp>
        <p:nvSpPr>
          <p:cNvPr id="16" name="Rounded Rectangle 15"/>
          <p:cNvSpPr/>
          <p:nvPr/>
        </p:nvSpPr>
        <p:spPr>
          <a:xfrm>
            <a:off x="6492240" y="4937760"/>
            <a:ext cx="960120" cy="56692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Equation" descr="M = 300"/>
          <p:cNvPicPr>
            <a:picLocks noChangeAspect="1"/>
          </p:cNvPicPr>
          <p:nvPr/>
        </p:nvPicPr>
        <p:blipFill>
          <a:blip r:embed="rId8"/>
          <a:stretch>
            <a:fillRect/>
          </a:stretch>
        </p:blipFill>
        <p:spPr>
          <a:xfrm>
            <a:off x="6631813" y="5116322"/>
            <a:ext cx="680974" cy="209804"/>
          </a:xfrm>
          <a:prstGeom prst="rect">
            <a:avLst/>
          </a:prstGeom>
        </p:spPr>
      </p:pic>
      <p:sp>
        <p:nvSpPr>
          <p:cNvPr id="18" name="Rounded Rectangle 17"/>
          <p:cNvSpPr/>
          <p:nvPr/>
        </p:nvSpPr>
        <p:spPr>
          <a:xfrm>
            <a:off x="7534656" y="4937760"/>
            <a:ext cx="960120" cy="56692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Equation" descr="\nu = 0.03"/>
          <p:cNvPicPr>
            <a:picLocks noChangeAspect="1"/>
          </p:cNvPicPr>
          <p:nvPr/>
        </p:nvPicPr>
        <p:blipFill>
          <a:blip r:embed="rId9"/>
          <a:stretch>
            <a:fillRect/>
          </a:stretch>
        </p:blipFill>
        <p:spPr>
          <a:xfrm>
            <a:off x="7692009" y="5116322"/>
            <a:ext cx="645414" cy="209804"/>
          </a:xfrm>
          <a:prstGeom prst="rect">
            <a:avLst/>
          </a:prstGeom>
        </p:spPr>
      </p:pic>
      <p:sp>
        <p:nvSpPr>
          <p:cNvPr id="20" name="Rounded Rectangle 19"/>
          <p:cNvSpPr/>
          <p:nvPr/>
        </p:nvSpPr>
        <p:spPr>
          <a:xfrm>
            <a:off x="8577072" y="4937760"/>
            <a:ext cx="960120" cy="56692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Equation" descr="J = 4"/>
          <p:cNvPicPr>
            <a:picLocks noChangeAspect="1"/>
          </p:cNvPicPr>
          <p:nvPr/>
        </p:nvPicPr>
        <p:blipFill>
          <a:blip r:embed="rId10"/>
          <a:stretch>
            <a:fillRect/>
          </a:stretch>
        </p:blipFill>
        <p:spPr>
          <a:xfrm>
            <a:off x="8841994" y="5116322"/>
            <a:ext cx="430276" cy="209804"/>
          </a:xfrm>
          <a:prstGeom prst="rect">
            <a:avLst/>
          </a:prstGeom>
        </p:spPr>
      </p:pic>
      <p:sp>
        <p:nvSpPr>
          <p:cNvPr id="22" name="Rounded Rectangle 21"/>
          <p:cNvSpPr/>
          <p:nvPr/>
        </p:nvSpPr>
        <p:spPr>
          <a:xfrm>
            <a:off x="9619488" y="4937760"/>
            <a:ext cx="960120" cy="56692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Equation" descr="\lambda = 5"/>
          <p:cNvPicPr>
            <a:picLocks noChangeAspect="1"/>
          </p:cNvPicPr>
          <p:nvPr/>
        </p:nvPicPr>
        <p:blipFill>
          <a:blip r:embed="rId11"/>
          <a:stretch>
            <a:fillRect/>
          </a:stretch>
        </p:blipFill>
        <p:spPr>
          <a:xfrm>
            <a:off x="9882632" y="5116322"/>
            <a:ext cx="433832" cy="209804"/>
          </a:xfrm>
          <a:prstGeom prst="rect">
            <a:avLst/>
          </a:prstGeom>
        </p:spPr>
      </p:pic>
      <p:sp>
        <p:nvSpPr>
          <p:cNvPr id="24" name="Rounded Rectangle 23"/>
          <p:cNvSpPr/>
          <p:nvPr/>
        </p:nvSpPr>
        <p:spPr>
          <a:xfrm>
            <a:off x="10661904" y="4937760"/>
            <a:ext cx="960120" cy="56692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Equation" descr="n_j \geq 300"/>
          <p:cNvPicPr>
            <a:picLocks noChangeAspect="1"/>
          </p:cNvPicPr>
          <p:nvPr/>
        </p:nvPicPr>
        <p:blipFill>
          <a:blip r:embed="rId12"/>
          <a:stretch>
            <a:fillRect/>
          </a:stretch>
        </p:blipFill>
        <p:spPr>
          <a:xfrm>
            <a:off x="10803255" y="5111877"/>
            <a:ext cx="677418" cy="218694"/>
          </a:xfrm>
          <a:prstGeom prst="rect">
            <a:avLst/>
          </a:prstGeom>
        </p:spPr>
      </p:pic>
      <p:sp>
        <p:nvSpPr>
          <p:cNvPr id="26" name="TextBox 25"/>
          <p:cNvSpPr txBox="1"/>
          <p:nvPr/>
        </p:nvSpPr>
        <p:spPr>
          <a:xfrm>
            <a:off x="6492240" y="5623560"/>
            <a:ext cx="5148072" cy="502920"/>
          </a:xfrm>
          <a:prstGeom prst="rect">
            <a:avLst/>
          </a:prstGeom>
          <a:noFill/>
        </p:spPr>
        <p:txBody>
          <a:bodyPr wrap="square" lIns="0" rIns="0" tIns="0" bIns="0" anchor="t">
            <a:spAutoFit/>
          </a:bodyPr>
          <a:lstStyle/>
          <a:p>
            <a:pPr algn="l"/>
            <a:r>
              <a:rPr sz="1300" b="0" i="0">
                <a:solidFill>
                  <a:srgbClr val="5B6168"/>
                </a:solidFill>
                <a:latin typeface="Calibri"/>
              </a:rPr>
              <a:t>Trees, learning rate, leaves per tree, L2 penalty, minimum leaf size. The chart is the error after each tree.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MODEL SELECTION</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Tree size is chosen by the bias–variance trade-off</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6</a:t>
            </a:r>
          </a:p>
        </p:txBody>
      </p:sp>
      <p:sp>
        <p:nvSpPr>
          <p:cNvPr id="6" name="Rounded Rectangle 5"/>
          <p:cNvSpPr/>
          <p:nvPr/>
        </p:nvSpPr>
        <p:spPr>
          <a:xfrm>
            <a:off x="548640" y="1691640"/>
            <a:ext cx="5852160" cy="8686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Equation" descr="\mathbb{E}\left[(y-\hat{f}(x))^2\right] \;=\; \mathrm{Bias}[\hat{f}(x)]^2 \;+\; \mathrm{Var}[\hat{f}(x)] \;+\; \sigma^2"/>
          <p:cNvPicPr>
            <a:picLocks noChangeAspect="1"/>
          </p:cNvPicPr>
          <p:nvPr/>
        </p:nvPicPr>
        <p:blipFill>
          <a:blip r:embed="rId3"/>
          <a:stretch>
            <a:fillRect/>
          </a:stretch>
        </p:blipFill>
        <p:spPr>
          <a:xfrm>
            <a:off x="1024128" y="1963674"/>
            <a:ext cx="4901183" cy="324612"/>
          </a:xfrm>
          <a:prstGeom prst="rect">
            <a:avLst/>
          </a:prstGeom>
        </p:spPr>
      </p:pic>
      <p:pic>
        <p:nvPicPr>
          <p:cNvPr id="8" name="Picture 7" descr="fig_complexity.png"/>
          <p:cNvPicPr>
            <a:picLocks noChangeAspect="1"/>
          </p:cNvPicPr>
          <p:nvPr/>
        </p:nvPicPr>
        <p:blipFill>
          <a:blip r:embed="rId4"/>
          <a:stretch>
            <a:fillRect/>
          </a:stretch>
        </p:blipFill>
        <p:spPr>
          <a:xfrm>
            <a:off x="548640" y="2697480"/>
            <a:ext cx="5760720" cy="3515700"/>
          </a:xfrm>
          <a:prstGeom prst="rect">
            <a:avLst/>
          </a:prstGeom>
        </p:spPr>
      </p:pic>
      <p:sp>
        <p:nvSpPr>
          <p:cNvPr id="9" name="TextBox 8"/>
          <p:cNvSpPr txBox="1"/>
          <p:nvPr/>
        </p:nvSpPr>
        <p:spPr>
          <a:xfrm>
            <a:off x="6720840" y="1691640"/>
            <a:ext cx="4919472" cy="320040"/>
          </a:xfrm>
          <a:prstGeom prst="rect">
            <a:avLst/>
          </a:prstGeom>
          <a:noFill/>
        </p:spPr>
        <p:txBody>
          <a:bodyPr wrap="square" lIns="0" rIns="0" tIns="0" bIns="0" anchor="t">
            <a:spAutoFit/>
          </a:bodyPr>
          <a:lstStyle/>
          <a:p>
            <a:pPr algn="l"/>
            <a:r>
              <a:rPr sz="1500" b="1" i="0">
                <a:solidFill>
                  <a:srgbClr val="14171A"/>
                </a:solidFill>
                <a:latin typeface="Arial"/>
              </a:rPr>
              <a:t>RMSE, % of baseline pace</a:t>
            </a:r>
          </a:p>
        </p:txBody>
      </p:sp>
      <p:graphicFrame>
        <p:nvGraphicFramePr>
          <p:cNvPr id="10" name="Table 9"/>
          <p:cNvGraphicFramePr>
            <a:graphicFrameLocks noGrp="1"/>
          </p:cNvGraphicFramePr>
          <p:nvPr/>
        </p:nvGraphicFramePr>
        <p:xfrm>
          <a:off x="6720840" y="2084831"/>
          <a:ext cx="4919469" cy="2194560"/>
        </p:xfrm>
        <a:graphic>
          <a:graphicData uri="http://schemas.openxmlformats.org/drawingml/2006/table">
            <a:tbl>
              <a:tblPr firstRow="1" bandRow="1">
                <a:tableStyleId>{5C22544A-7EE6-4342-B048-85BDC9FD1C3A}</a:tableStyleId>
              </a:tblPr>
              <a:tblGrid>
                <a:gridCol w="1405563"/>
                <a:gridCol w="1171302"/>
                <a:gridCol w="1171302"/>
                <a:gridCol w="1171302"/>
              </a:tblGrid>
              <a:tr h="365760">
                <a:tc>
                  <a:txBody>
                    <a:bodyPr/>
                    <a:lstStyle/>
                    <a:p>
                      <a:pPr algn="l"/>
                      <a:r>
                        <a:rPr sz="1400" b="1">
                          <a:solidFill>
                            <a:srgbClr val="FFFFFF"/>
                          </a:solidFill>
                          <a:latin typeface="Calibri"/>
                        </a:rPr>
                        <a:t>Leaves J</a:t>
                      </a:r>
                    </a:p>
                  </a:txBody>
                  <a:tcPr marL="109728" marR="109728" marT="27432" marB="27432" anchor="ctr">
                    <a:solidFill>
                      <a:srgbClr val="14171A"/>
                    </a:solidFill>
                  </a:tcPr>
                </a:tc>
                <a:tc>
                  <a:txBody>
                    <a:bodyPr/>
                    <a:lstStyle/>
                    <a:p>
                      <a:pPr algn="r"/>
                      <a:r>
                        <a:rPr sz="1400" b="1">
                          <a:solidFill>
                            <a:srgbClr val="FFFFFF"/>
                          </a:solidFill>
                          <a:latin typeface="Calibri"/>
                        </a:rPr>
                        <a:t>Training</a:t>
                      </a:r>
                    </a:p>
                  </a:txBody>
                  <a:tcPr marL="109728" marR="109728" marT="27432" marB="27432" anchor="ctr">
                    <a:solidFill>
                      <a:srgbClr val="14171A"/>
                    </a:solidFill>
                  </a:tcPr>
                </a:tc>
                <a:tc>
                  <a:txBody>
                    <a:bodyPr/>
                    <a:lstStyle/>
                    <a:p>
                      <a:pPr algn="r"/>
                      <a:r>
                        <a:rPr sz="1400" b="1">
                          <a:solidFill>
                            <a:srgbClr val="FFFFFF"/>
                          </a:solidFill>
                          <a:latin typeface="Calibri"/>
                        </a:rPr>
                        <a:t>Validation</a:t>
                      </a:r>
                    </a:p>
                  </a:txBody>
                  <a:tcPr marL="109728" marR="109728" marT="27432" marB="27432" anchor="ctr">
                    <a:solidFill>
                      <a:srgbClr val="14171A"/>
                    </a:solidFill>
                  </a:tcPr>
                </a:tc>
                <a:tc>
                  <a:txBody>
                    <a:bodyPr/>
                    <a:lstStyle/>
                    <a:p>
                      <a:pPr algn="r"/>
                      <a:r>
                        <a:rPr sz="1400" b="1">
                          <a:solidFill>
                            <a:srgbClr val="FFFFFF"/>
                          </a:solidFill>
                          <a:latin typeface="Calibri"/>
                        </a:rPr>
                        <a:t>Gap</a:t>
                      </a:r>
                    </a:p>
                  </a:txBody>
                  <a:tcPr marL="109728" marR="109728" marT="27432" marB="27432" anchor="ctr">
                    <a:solidFill>
                      <a:srgbClr val="14171A"/>
                    </a:solidFill>
                  </a:tcPr>
                </a:tc>
              </a:tr>
              <a:tr h="365760">
                <a:tc>
                  <a:txBody>
                    <a:bodyPr/>
                    <a:lstStyle/>
                    <a:p>
                      <a:pPr algn="l"/>
                      <a:r>
                        <a:rPr sz="1400" b="0">
                          <a:solidFill>
                            <a:srgbClr val="1E2226"/>
                          </a:solidFill>
                          <a:latin typeface="Calibri"/>
                        </a:rPr>
                        <a:t>2</a:t>
                      </a:r>
                    </a:p>
                  </a:txBody>
                  <a:tcPr marL="109728" marR="109728" marT="27432" marB="27432" anchor="ctr">
                    <a:solidFill>
                      <a:srgbClr val="F2F3F5"/>
                    </a:solidFill>
                  </a:tcPr>
                </a:tc>
                <a:tc>
                  <a:txBody>
                    <a:bodyPr/>
                    <a:lstStyle/>
                    <a:p>
                      <a:pPr algn="r"/>
                      <a:r>
                        <a:rPr sz="1400" b="0">
                          <a:solidFill>
                            <a:srgbClr val="1E2226"/>
                          </a:solidFill>
                          <a:latin typeface="Calibri"/>
                        </a:rPr>
                        <a:t>0.843</a:t>
                      </a:r>
                    </a:p>
                  </a:txBody>
                  <a:tcPr marL="109728" marR="109728" marT="27432" marB="27432" anchor="ctr">
                    <a:solidFill>
                      <a:srgbClr val="F2F3F5"/>
                    </a:solidFill>
                  </a:tcPr>
                </a:tc>
                <a:tc>
                  <a:txBody>
                    <a:bodyPr/>
                    <a:lstStyle/>
                    <a:p>
                      <a:pPr algn="r"/>
                      <a:r>
                        <a:rPr sz="1400" b="0">
                          <a:solidFill>
                            <a:srgbClr val="1E2226"/>
                          </a:solidFill>
                          <a:latin typeface="Calibri"/>
                        </a:rPr>
                        <a:t>0.926</a:t>
                      </a:r>
                    </a:p>
                  </a:txBody>
                  <a:tcPr marL="109728" marR="109728" marT="27432" marB="27432" anchor="ctr">
                    <a:solidFill>
                      <a:srgbClr val="F2F3F5"/>
                    </a:solidFill>
                  </a:tcPr>
                </a:tc>
                <a:tc>
                  <a:txBody>
                    <a:bodyPr/>
                    <a:lstStyle/>
                    <a:p>
                      <a:pPr algn="r"/>
                      <a:r>
                        <a:rPr sz="1400" b="0">
                          <a:solidFill>
                            <a:srgbClr val="1E2226"/>
                          </a:solidFill>
                          <a:latin typeface="Calibri"/>
                        </a:rPr>
                        <a:t>0.083</a:t>
                      </a:r>
                    </a:p>
                  </a:txBody>
                  <a:tcPr marL="109728" marR="109728" marT="27432" marB="27432" anchor="ctr">
                    <a:solidFill>
                      <a:srgbClr val="F2F3F5"/>
                    </a:solidFill>
                  </a:tcPr>
                </a:tc>
              </a:tr>
              <a:tr h="365760">
                <a:tc>
                  <a:txBody>
                    <a:bodyPr/>
                    <a:lstStyle/>
                    <a:p>
                      <a:pPr algn="l"/>
                      <a:r>
                        <a:rPr sz="1400" b="0">
                          <a:solidFill>
                            <a:srgbClr val="1E2226"/>
                          </a:solidFill>
                          <a:latin typeface="Calibri"/>
                        </a:rPr>
                        <a:t>4</a:t>
                      </a:r>
                    </a:p>
                  </a:txBody>
                  <a:tcPr marL="109728" marR="109728" marT="27432" marB="27432" anchor="ctr">
                    <a:solidFill>
                      <a:srgbClr val="FFFFFF"/>
                    </a:solidFill>
                  </a:tcPr>
                </a:tc>
                <a:tc>
                  <a:txBody>
                    <a:bodyPr/>
                    <a:lstStyle/>
                    <a:p>
                      <a:pPr algn="r"/>
                      <a:r>
                        <a:rPr sz="1400" b="0">
                          <a:solidFill>
                            <a:srgbClr val="1E2226"/>
                          </a:solidFill>
                          <a:latin typeface="Calibri"/>
                        </a:rPr>
                        <a:t>0.755</a:t>
                      </a:r>
                    </a:p>
                  </a:txBody>
                  <a:tcPr marL="109728" marR="109728" marT="27432" marB="27432" anchor="ctr">
                    <a:solidFill>
                      <a:srgbClr val="FFFFFF"/>
                    </a:solidFill>
                  </a:tcPr>
                </a:tc>
                <a:tc>
                  <a:txBody>
                    <a:bodyPr/>
                    <a:lstStyle/>
                    <a:p>
                      <a:pPr algn="r"/>
                      <a:r>
                        <a:rPr sz="1400" b="0">
                          <a:solidFill>
                            <a:srgbClr val="1E2226"/>
                          </a:solidFill>
                          <a:latin typeface="Calibri"/>
                        </a:rPr>
                        <a:t>0.902</a:t>
                      </a:r>
                    </a:p>
                  </a:txBody>
                  <a:tcPr marL="109728" marR="109728" marT="27432" marB="27432" anchor="ctr">
                    <a:solidFill>
                      <a:srgbClr val="FFFFFF"/>
                    </a:solidFill>
                  </a:tcPr>
                </a:tc>
                <a:tc>
                  <a:txBody>
                    <a:bodyPr/>
                    <a:lstStyle/>
                    <a:p>
                      <a:pPr algn="r"/>
                      <a:r>
                        <a:rPr sz="1400" b="0">
                          <a:solidFill>
                            <a:srgbClr val="1E2226"/>
                          </a:solidFill>
                          <a:latin typeface="Calibri"/>
                        </a:rPr>
                        <a:t>0.147</a:t>
                      </a:r>
                    </a:p>
                  </a:txBody>
                  <a:tcPr marL="109728" marR="109728" marT="27432" marB="27432" anchor="ctr">
                    <a:solidFill>
                      <a:srgbClr val="FFFFFF"/>
                    </a:solidFill>
                  </a:tcPr>
                </a:tc>
              </a:tr>
              <a:tr h="365760">
                <a:tc>
                  <a:txBody>
                    <a:bodyPr/>
                    <a:lstStyle/>
                    <a:p>
                      <a:pPr algn="l"/>
                      <a:r>
                        <a:rPr sz="1400" b="0">
                          <a:solidFill>
                            <a:srgbClr val="1E2226"/>
                          </a:solidFill>
                          <a:latin typeface="Calibri"/>
                        </a:rPr>
                        <a:t>8</a:t>
                      </a:r>
                    </a:p>
                  </a:txBody>
                  <a:tcPr marL="109728" marR="109728" marT="27432" marB="27432" anchor="ctr">
                    <a:solidFill>
                      <a:srgbClr val="F2F3F5"/>
                    </a:solidFill>
                  </a:tcPr>
                </a:tc>
                <a:tc>
                  <a:txBody>
                    <a:bodyPr/>
                    <a:lstStyle/>
                    <a:p>
                      <a:pPr algn="r"/>
                      <a:r>
                        <a:rPr sz="1400" b="0">
                          <a:solidFill>
                            <a:srgbClr val="1E2226"/>
                          </a:solidFill>
                          <a:latin typeface="Calibri"/>
                        </a:rPr>
                        <a:t>0.706</a:t>
                      </a:r>
                    </a:p>
                  </a:txBody>
                  <a:tcPr marL="109728" marR="109728" marT="27432" marB="27432" anchor="ctr">
                    <a:solidFill>
                      <a:srgbClr val="F2F3F5"/>
                    </a:solidFill>
                  </a:tcPr>
                </a:tc>
                <a:tc>
                  <a:txBody>
                    <a:bodyPr/>
                    <a:lstStyle/>
                    <a:p>
                      <a:pPr algn="r"/>
                      <a:r>
                        <a:rPr sz="1400" b="0">
                          <a:solidFill>
                            <a:srgbClr val="1E2226"/>
                          </a:solidFill>
                          <a:latin typeface="Calibri"/>
                        </a:rPr>
                        <a:t>0.921</a:t>
                      </a:r>
                    </a:p>
                  </a:txBody>
                  <a:tcPr marL="109728" marR="109728" marT="27432" marB="27432" anchor="ctr">
                    <a:solidFill>
                      <a:srgbClr val="F2F3F5"/>
                    </a:solidFill>
                  </a:tcPr>
                </a:tc>
                <a:tc>
                  <a:txBody>
                    <a:bodyPr/>
                    <a:lstStyle/>
                    <a:p>
                      <a:pPr algn="r"/>
                      <a:r>
                        <a:rPr sz="1400" b="0">
                          <a:solidFill>
                            <a:srgbClr val="1E2226"/>
                          </a:solidFill>
                          <a:latin typeface="Calibri"/>
                        </a:rPr>
                        <a:t>0.215</a:t>
                      </a:r>
                    </a:p>
                  </a:txBody>
                  <a:tcPr marL="109728" marR="109728" marT="27432" marB="27432" anchor="ctr">
                    <a:solidFill>
                      <a:srgbClr val="F2F3F5"/>
                    </a:solidFill>
                  </a:tcPr>
                </a:tc>
              </a:tr>
              <a:tr h="365760">
                <a:tc>
                  <a:txBody>
                    <a:bodyPr/>
                    <a:lstStyle/>
                    <a:p>
                      <a:pPr algn="l"/>
                      <a:r>
                        <a:rPr sz="1400" b="0">
                          <a:solidFill>
                            <a:srgbClr val="1E2226"/>
                          </a:solidFill>
                          <a:latin typeface="Calibri"/>
                        </a:rPr>
                        <a:t>31</a:t>
                      </a:r>
                    </a:p>
                  </a:txBody>
                  <a:tcPr marL="109728" marR="109728" marT="27432" marB="27432" anchor="ctr">
                    <a:solidFill>
                      <a:srgbClr val="FFFFFF"/>
                    </a:solidFill>
                  </a:tcPr>
                </a:tc>
                <a:tc>
                  <a:txBody>
                    <a:bodyPr/>
                    <a:lstStyle/>
                    <a:p>
                      <a:pPr algn="r"/>
                      <a:r>
                        <a:rPr sz="1400" b="0">
                          <a:solidFill>
                            <a:srgbClr val="1E2226"/>
                          </a:solidFill>
                          <a:latin typeface="Calibri"/>
                        </a:rPr>
                        <a:t>0.639</a:t>
                      </a:r>
                    </a:p>
                  </a:txBody>
                  <a:tcPr marL="109728" marR="109728" marT="27432" marB="27432" anchor="ctr">
                    <a:solidFill>
                      <a:srgbClr val="FFFFFF"/>
                    </a:solidFill>
                  </a:tcPr>
                </a:tc>
                <a:tc>
                  <a:txBody>
                    <a:bodyPr/>
                    <a:lstStyle/>
                    <a:p>
                      <a:pPr algn="r"/>
                      <a:r>
                        <a:rPr sz="1400" b="0">
                          <a:solidFill>
                            <a:srgbClr val="1E2226"/>
                          </a:solidFill>
                          <a:latin typeface="Calibri"/>
                        </a:rPr>
                        <a:t>0.940</a:t>
                      </a:r>
                    </a:p>
                  </a:txBody>
                  <a:tcPr marL="109728" marR="109728" marT="27432" marB="27432" anchor="ctr">
                    <a:solidFill>
                      <a:srgbClr val="FFFFFF"/>
                    </a:solidFill>
                  </a:tcPr>
                </a:tc>
                <a:tc>
                  <a:txBody>
                    <a:bodyPr/>
                    <a:lstStyle/>
                    <a:p>
                      <a:pPr algn="r"/>
                      <a:r>
                        <a:rPr sz="1400" b="0">
                          <a:solidFill>
                            <a:srgbClr val="1E2226"/>
                          </a:solidFill>
                          <a:latin typeface="Calibri"/>
                        </a:rPr>
                        <a:t>0.300</a:t>
                      </a:r>
                    </a:p>
                  </a:txBody>
                  <a:tcPr marL="109728" marR="109728" marT="27432" marB="27432" anchor="ctr">
                    <a:solidFill>
                      <a:srgbClr val="FFFFFF"/>
                    </a:solidFill>
                  </a:tcPr>
                </a:tc>
              </a:tr>
              <a:tr h="365760">
                <a:tc>
                  <a:txBody>
                    <a:bodyPr/>
                    <a:lstStyle/>
                    <a:p>
                      <a:pPr algn="l"/>
                      <a:r>
                        <a:rPr sz="1400" b="0">
                          <a:solidFill>
                            <a:srgbClr val="1E2226"/>
                          </a:solidFill>
                          <a:latin typeface="Calibri"/>
                        </a:rPr>
                        <a:t>Linear</a:t>
                      </a:r>
                    </a:p>
                  </a:txBody>
                  <a:tcPr marL="109728" marR="109728" marT="27432" marB="27432" anchor="ctr">
                    <a:solidFill>
                      <a:srgbClr val="F2F3F5"/>
                    </a:solidFill>
                  </a:tcPr>
                </a:tc>
                <a:tc>
                  <a:txBody>
                    <a:bodyPr/>
                    <a:lstStyle/>
                    <a:p>
                      <a:pPr algn="r"/>
                      <a:r>
                        <a:rPr sz="1400" b="0">
                          <a:solidFill>
                            <a:srgbClr val="1E2226"/>
                          </a:solidFill>
                          <a:latin typeface="Calibri"/>
                        </a:rPr>
                        <a:t>0.913</a:t>
                      </a:r>
                    </a:p>
                  </a:txBody>
                  <a:tcPr marL="109728" marR="109728" marT="27432" marB="27432" anchor="ctr">
                    <a:solidFill>
                      <a:srgbClr val="F2F3F5"/>
                    </a:solidFill>
                  </a:tcPr>
                </a:tc>
                <a:tc>
                  <a:txBody>
                    <a:bodyPr/>
                    <a:lstStyle/>
                    <a:p>
                      <a:pPr algn="r"/>
                      <a:r>
                        <a:rPr sz="1400" b="0">
                          <a:solidFill>
                            <a:srgbClr val="1E2226"/>
                          </a:solidFill>
                          <a:latin typeface="Calibri"/>
                        </a:rPr>
                        <a:t>0.930</a:t>
                      </a:r>
                    </a:p>
                  </a:txBody>
                  <a:tcPr marL="109728" marR="109728" marT="27432" marB="27432" anchor="ctr">
                    <a:solidFill>
                      <a:srgbClr val="F2F3F5"/>
                    </a:solidFill>
                  </a:tcPr>
                </a:tc>
                <a:tc>
                  <a:txBody>
                    <a:bodyPr/>
                    <a:lstStyle/>
                    <a:p>
                      <a:pPr algn="r"/>
                      <a:r>
                        <a:rPr sz="1400" b="0">
                          <a:solidFill>
                            <a:srgbClr val="1E2226"/>
                          </a:solidFill>
                          <a:latin typeface="Calibri"/>
                        </a:rPr>
                        <a:t>0.017</a:t>
                      </a:r>
                    </a:p>
                  </a:txBody>
                  <a:tcPr marL="109728" marR="109728" marT="27432" marB="27432" anchor="ctr">
                    <a:solidFill>
                      <a:srgbClr val="F2F3F5"/>
                    </a:solidFill>
                  </a:tcPr>
                </a:tc>
              </a:tr>
            </a:tbl>
          </a:graphicData>
        </a:graphic>
      </p:graphicFrame>
      <p:sp>
        <p:nvSpPr>
          <p:cNvPr id="11" name="TextBox 10"/>
          <p:cNvSpPr txBox="1"/>
          <p:nvPr/>
        </p:nvSpPr>
        <p:spPr>
          <a:xfrm>
            <a:off x="6720840" y="4370832"/>
            <a:ext cx="4919472" cy="548640"/>
          </a:xfrm>
          <a:prstGeom prst="rect">
            <a:avLst/>
          </a:prstGeom>
          <a:noFill/>
        </p:spPr>
        <p:txBody>
          <a:bodyPr wrap="square" lIns="0" rIns="0" tIns="0" bIns="0" anchor="t">
            <a:spAutoFit/>
          </a:bodyPr>
          <a:lstStyle/>
          <a:p>
            <a:pPr algn="l"/>
            <a:r>
              <a:rPr sz="1400" b="0" i="0">
                <a:solidFill>
                  <a:srgbClr val="1E2226"/>
                </a:solidFill>
                <a:latin typeface="Calibri"/>
              </a:rPr>
              <a:t>Training error falls with J; validation error is lowest at J = 4. The growing gap is variance.</a:t>
            </a:r>
          </a:p>
        </p:txBody>
      </p:sp>
      <p:sp>
        <p:nvSpPr>
          <p:cNvPr id="12" name="TextBox 11"/>
          <p:cNvSpPr txBox="1"/>
          <p:nvPr/>
        </p:nvSpPr>
        <p:spPr>
          <a:xfrm>
            <a:off x="6720840" y="4956048"/>
            <a:ext cx="4919472" cy="274320"/>
          </a:xfrm>
          <a:prstGeom prst="rect">
            <a:avLst/>
          </a:prstGeom>
          <a:noFill/>
        </p:spPr>
        <p:txBody>
          <a:bodyPr wrap="square" lIns="0" rIns="0" tIns="0" bIns="0" anchor="t">
            <a:spAutoFit/>
          </a:bodyPr>
          <a:lstStyle/>
          <a:p>
            <a:pPr algn="l"/>
            <a:r>
              <a:rPr sz="1300" b="1" i="0">
                <a:solidFill>
                  <a:srgbClr val="14171A"/>
                </a:solidFill>
                <a:latin typeface="Arial"/>
              </a:rPr>
              <a:t>Test season 2025, used once</a:t>
            </a:r>
          </a:p>
        </p:txBody>
      </p:sp>
      <p:sp>
        <p:nvSpPr>
          <p:cNvPr id="13" name="Rounded Rectangle 12"/>
          <p:cNvSpPr/>
          <p:nvPr/>
        </p:nvSpPr>
        <p:spPr>
          <a:xfrm>
            <a:off x="6720840" y="5285232"/>
            <a:ext cx="1572768" cy="8686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5330952"/>
            <a:ext cx="1325880" cy="438912"/>
          </a:xfrm>
          <a:prstGeom prst="rect">
            <a:avLst/>
          </a:prstGeom>
          <a:noFill/>
        </p:spPr>
        <p:txBody>
          <a:bodyPr wrap="square" lIns="0" rIns="0" tIns="0" bIns="0" anchor="ctr">
            <a:spAutoFit/>
          </a:bodyPr>
          <a:lstStyle/>
          <a:p>
            <a:pPr algn="l"/>
            <a:r>
              <a:rPr sz="2000" b="1" i="0">
                <a:solidFill>
                  <a:srgbClr val="E10600"/>
                </a:solidFill>
                <a:latin typeface="Arial"/>
              </a:rPr>
              <a:t>0.835 s</a:t>
            </a:r>
          </a:p>
        </p:txBody>
      </p:sp>
      <p:sp>
        <p:nvSpPr>
          <p:cNvPr id="15" name="TextBox 14"/>
          <p:cNvSpPr txBox="1"/>
          <p:nvPr/>
        </p:nvSpPr>
        <p:spPr>
          <a:xfrm>
            <a:off x="6858000" y="5779008"/>
            <a:ext cx="1325880" cy="274320"/>
          </a:xfrm>
          <a:prstGeom prst="rect">
            <a:avLst/>
          </a:prstGeom>
          <a:noFill/>
        </p:spPr>
        <p:txBody>
          <a:bodyPr wrap="square" lIns="0" rIns="0" tIns="0" bIns="0" anchor="t">
            <a:spAutoFit/>
          </a:bodyPr>
          <a:lstStyle/>
          <a:p>
            <a:pPr algn="l"/>
            <a:r>
              <a:rPr sz="1200" b="0" i="0">
                <a:solidFill>
                  <a:srgbClr val="5B6168"/>
                </a:solidFill>
                <a:latin typeface="Calibri"/>
              </a:rPr>
              <a:t>RMSE per lap</a:t>
            </a:r>
          </a:p>
        </p:txBody>
      </p:sp>
      <p:sp>
        <p:nvSpPr>
          <p:cNvPr id="16" name="Rounded Rectangle 15"/>
          <p:cNvSpPr/>
          <p:nvPr/>
        </p:nvSpPr>
        <p:spPr>
          <a:xfrm>
            <a:off x="8394192" y="5285232"/>
            <a:ext cx="1572768" cy="8686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352" y="5330952"/>
            <a:ext cx="1325880" cy="438912"/>
          </a:xfrm>
          <a:prstGeom prst="rect">
            <a:avLst/>
          </a:prstGeom>
          <a:noFill/>
        </p:spPr>
        <p:txBody>
          <a:bodyPr wrap="square" lIns="0" rIns="0" tIns="0" bIns="0" anchor="ctr">
            <a:spAutoFit/>
          </a:bodyPr>
          <a:lstStyle/>
          <a:p>
            <a:pPr algn="l"/>
            <a:r>
              <a:rPr sz="2000" b="1" i="0">
                <a:solidFill>
                  <a:srgbClr val="14171A"/>
                </a:solidFill>
                <a:latin typeface="Arial"/>
              </a:rPr>
              <a:t>1.558 s</a:t>
            </a:r>
          </a:p>
        </p:txBody>
      </p:sp>
      <p:sp>
        <p:nvSpPr>
          <p:cNvPr id="18" name="TextBox 17"/>
          <p:cNvSpPr txBox="1"/>
          <p:nvPr/>
        </p:nvSpPr>
        <p:spPr>
          <a:xfrm>
            <a:off x="8531352" y="5779008"/>
            <a:ext cx="1325880" cy="274320"/>
          </a:xfrm>
          <a:prstGeom prst="rect">
            <a:avLst/>
          </a:prstGeom>
          <a:noFill/>
        </p:spPr>
        <p:txBody>
          <a:bodyPr wrap="square" lIns="0" rIns="0" tIns="0" bIns="0" anchor="t">
            <a:spAutoFit/>
          </a:bodyPr>
          <a:lstStyle/>
          <a:p>
            <a:pPr algn="l"/>
            <a:r>
              <a:rPr sz="1200" b="0" i="0">
                <a:solidFill>
                  <a:srgbClr val="5B6168"/>
                </a:solidFill>
                <a:latin typeface="Calibri"/>
              </a:rPr>
              <a:t>constant pace</a:t>
            </a:r>
          </a:p>
        </p:txBody>
      </p:sp>
      <p:sp>
        <p:nvSpPr>
          <p:cNvPr id="19" name="Rounded Rectangle 18"/>
          <p:cNvSpPr/>
          <p:nvPr/>
        </p:nvSpPr>
        <p:spPr>
          <a:xfrm>
            <a:off x="10067544" y="5285232"/>
            <a:ext cx="1572768" cy="8686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04704" y="5330952"/>
            <a:ext cx="1325880" cy="438912"/>
          </a:xfrm>
          <a:prstGeom prst="rect">
            <a:avLst/>
          </a:prstGeom>
          <a:noFill/>
        </p:spPr>
        <p:txBody>
          <a:bodyPr wrap="square" lIns="0" rIns="0" tIns="0" bIns="0" anchor="ctr">
            <a:spAutoFit/>
          </a:bodyPr>
          <a:lstStyle/>
          <a:p>
            <a:pPr algn="l"/>
            <a:r>
              <a:rPr sz="2000" b="1" i="0">
                <a:solidFill>
                  <a:srgbClr val="14171A"/>
                </a:solidFill>
                <a:latin typeface="Arial"/>
              </a:rPr>
              <a:t>0.44</a:t>
            </a:r>
          </a:p>
        </p:txBody>
      </p:sp>
      <p:sp>
        <p:nvSpPr>
          <p:cNvPr id="21" name="TextBox 20"/>
          <p:cNvSpPr txBox="1"/>
          <p:nvPr/>
        </p:nvSpPr>
        <p:spPr>
          <a:xfrm>
            <a:off x="10204704" y="5779008"/>
            <a:ext cx="1325880" cy="274320"/>
          </a:xfrm>
          <a:prstGeom prst="rect">
            <a:avLst/>
          </a:prstGeom>
          <a:noFill/>
        </p:spPr>
        <p:txBody>
          <a:bodyPr wrap="square" lIns="0" rIns="0" tIns="0" bIns="0" anchor="t">
            <a:spAutoFit/>
          </a:bodyPr>
          <a:lstStyle/>
          <a:p>
            <a:pPr algn="l"/>
            <a:r>
              <a:rPr sz="1200" b="0" i="0">
                <a:solidFill>
                  <a:srgbClr val="5B6168"/>
                </a:solidFill>
                <a:latin typeface="Calibri"/>
              </a:rPr>
              <a:t>R²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ERROR STRUCTURE</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The errors are not independent: a three-level decomposition</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7</a:t>
            </a:r>
          </a:p>
        </p:txBody>
      </p:sp>
      <p:sp>
        <p:nvSpPr>
          <p:cNvPr id="6" name="Rounded Rectangle 5"/>
          <p:cNvSpPr/>
          <p:nvPr/>
        </p:nvSpPr>
        <p:spPr>
          <a:xfrm>
            <a:off x="548640" y="1691640"/>
            <a:ext cx="5120640" cy="2103120"/>
          </a:xfrm>
          <a:prstGeom prst="roundRect">
            <a:avLst>
              <a:gd name="adj" fmla="val 6086"/>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5486400" cy="237744"/>
          </a:xfrm>
          <a:prstGeom prst="rect">
            <a:avLst/>
          </a:prstGeom>
          <a:noFill/>
        </p:spPr>
        <p:txBody>
          <a:bodyPr wrap="square" lIns="0" rIns="0" tIns="0" bIns="0" anchor="t">
            <a:spAutoFit/>
          </a:bodyPr>
          <a:lstStyle/>
          <a:p>
            <a:pPr algn="l"/>
            <a:r>
              <a:rPr sz="1100" b="1" i="0">
                <a:solidFill>
                  <a:srgbClr val="E10600"/>
                </a:solidFill>
                <a:latin typeface="Arial"/>
              </a:rPr>
              <a:t>VALIDATION RESIDUAL, BY LEVEL</a:t>
            </a:r>
          </a:p>
        </p:txBody>
      </p:sp>
      <p:pic>
        <p:nvPicPr>
          <p:cNvPr id="8" name="Equation" descr="e_{dj\ell} \;=\; a_d \;+\; b_{dj} \;+\; \varepsilon_{dj\ell}"/>
          <p:cNvPicPr>
            <a:picLocks noChangeAspect="1"/>
          </p:cNvPicPr>
          <p:nvPr/>
        </p:nvPicPr>
        <p:blipFill>
          <a:blip r:embed="rId3"/>
          <a:stretch>
            <a:fillRect/>
          </a:stretch>
        </p:blipFill>
        <p:spPr>
          <a:xfrm>
            <a:off x="1325879" y="2194560"/>
            <a:ext cx="3566160" cy="421767"/>
          </a:xfrm>
          <a:prstGeom prst="rect">
            <a:avLst/>
          </a:prstGeom>
        </p:spPr>
      </p:pic>
      <p:pic>
        <p:nvPicPr>
          <p:cNvPr id="9" name="Equation" descr="a_d \sim (0,\sigma_a^2) \qquad b_{dj} \sim (0,\sigma_b^2) \qquad \varepsilon_{dj\ell} \sim (0,\sigma_\varepsilon^2)"/>
          <p:cNvPicPr>
            <a:picLocks noChangeAspect="1"/>
          </p:cNvPicPr>
          <p:nvPr/>
        </p:nvPicPr>
        <p:blipFill>
          <a:blip r:embed="rId4"/>
          <a:stretch>
            <a:fillRect/>
          </a:stretch>
        </p:blipFill>
        <p:spPr>
          <a:xfrm>
            <a:off x="1098296" y="3017520"/>
            <a:ext cx="4021328" cy="284480"/>
          </a:xfrm>
          <a:prstGeom prst="rect">
            <a:avLst/>
          </a:prstGeom>
        </p:spPr>
      </p:pic>
      <p:sp>
        <p:nvSpPr>
          <p:cNvPr id="10" name="TextBox 9"/>
          <p:cNvSpPr txBox="1"/>
          <p:nvPr/>
        </p:nvSpPr>
        <p:spPr>
          <a:xfrm>
            <a:off x="548640" y="3429000"/>
            <a:ext cx="5120640" cy="274320"/>
          </a:xfrm>
          <a:prstGeom prst="rect">
            <a:avLst/>
          </a:prstGeom>
          <a:noFill/>
        </p:spPr>
        <p:txBody>
          <a:bodyPr wrap="square" lIns="0" rIns="0" tIns="0" bIns="0" anchor="t">
            <a:spAutoFit/>
          </a:bodyPr>
          <a:lstStyle/>
          <a:p>
            <a:pPr algn="ctr"/>
            <a:r>
              <a:rPr sz="1200" b="0" i="0">
                <a:solidFill>
                  <a:srgbClr val="C9CDD2"/>
                </a:solidFill>
                <a:latin typeface="Calibri"/>
              </a:rPr>
              <a:t>d: driver-race,  j: stint,  ℓ: lap.  Mutually independent, mean zero.</a:t>
            </a:r>
          </a:p>
        </p:txBody>
      </p:sp>
      <p:sp>
        <p:nvSpPr>
          <p:cNvPr id="11" name="Rounded Rectangle 10"/>
          <p:cNvSpPr/>
          <p:nvPr/>
        </p:nvSpPr>
        <p:spPr>
          <a:xfrm>
            <a:off x="5897880" y="1691640"/>
            <a:ext cx="5742432" cy="65836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Equation" descr="\sigma_a = 0.545"/>
          <p:cNvPicPr>
            <a:picLocks noChangeAspect="1"/>
          </p:cNvPicPr>
          <p:nvPr/>
        </p:nvPicPr>
        <p:blipFill>
          <a:blip r:embed="rId5"/>
          <a:stretch>
            <a:fillRect/>
          </a:stretch>
        </p:blipFill>
        <p:spPr>
          <a:xfrm>
            <a:off x="6126480" y="1900936"/>
            <a:ext cx="942848" cy="239776"/>
          </a:xfrm>
          <a:prstGeom prst="rect">
            <a:avLst/>
          </a:prstGeom>
        </p:spPr>
      </p:pic>
      <p:sp>
        <p:nvSpPr>
          <p:cNvPr id="13" name="TextBox 12"/>
          <p:cNvSpPr txBox="1"/>
          <p:nvPr/>
        </p:nvSpPr>
        <p:spPr>
          <a:xfrm>
            <a:off x="8001000" y="1764792"/>
            <a:ext cx="3474720" cy="256032"/>
          </a:xfrm>
          <a:prstGeom prst="rect">
            <a:avLst/>
          </a:prstGeom>
          <a:noFill/>
        </p:spPr>
        <p:txBody>
          <a:bodyPr wrap="square" lIns="0" rIns="0" tIns="0" bIns="0" anchor="t">
            <a:spAutoFit/>
          </a:bodyPr>
          <a:lstStyle/>
          <a:p>
            <a:pPr algn="l"/>
            <a:r>
              <a:rPr sz="1400" b="1" i="0">
                <a:solidFill>
                  <a:srgbClr val="14171A"/>
                </a:solidFill>
                <a:latin typeface="Arial"/>
              </a:rPr>
              <a:t>Driver over a race</a:t>
            </a:r>
          </a:p>
        </p:txBody>
      </p:sp>
      <p:sp>
        <p:nvSpPr>
          <p:cNvPr id="14" name="TextBox 13"/>
          <p:cNvSpPr txBox="1"/>
          <p:nvPr/>
        </p:nvSpPr>
        <p:spPr>
          <a:xfrm>
            <a:off x="8001000" y="2029968"/>
            <a:ext cx="3474720" cy="274320"/>
          </a:xfrm>
          <a:prstGeom prst="rect">
            <a:avLst/>
          </a:prstGeom>
          <a:noFill/>
        </p:spPr>
        <p:txBody>
          <a:bodyPr wrap="square" lIns="0" rIns="0" tIns="0" bIns="0" anchor="t">
            <a:spAutoFit/>
          </a:bodyPr>
          <a:lstStyle/>
          <a:p>
            <a:pPr algn="l"/>
            <a:r>
              <a:rPr sz="1300" b="0" i="0">
                <a:solidFill>
                  <a:srgbClr val="5B6168"/>
                </a:solidFill>
                <a:latin typeface="Calibri"/>
              </a:rPr>
              <a:t>A misjudged baseline. The same for every strategy.</a:t>
            </a:r>
          </a:p>
        </p:txBody>
      </p:sp>
      <p:sp>
        <p:nvSpPr>
          <p:cNvPr id="15" name="Rounded Rectangle 14"/>
          <p:cNvSpPr/>
          <p:nvPr/>
        </p:nvSpPr>
        <p:spPr>
          <a:xfrm>
            <a:off x="5897880" y="2414016"/>
            <a:ext cx="5742432" cy="65836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Equation" descr="\sigma_b = 0.438"/>
          <p:cNvPicPr>
            <a:picLocks noChangeAspect="1"/>
          </p:cNvPicPr>
          <p:nvPr/>
        </p:nvPicPr>
        <p:blipFill>
          <a:blip r:embed="rId6"/>
          <a:stretch>
            <a:fillRect/>
          </a:stretch>
        </p:blipFill>
        <p:spPr>
          <a:xfrm>
            <a:off x="6126480" y="2623312"/>
            <a:ext cx="928624" cy="239776"/>
          </a:xfrm>
          <a:prstGeom prst="rect">
            <a:avLst/>
          </a:prstGeom>
        </p:spPr>
      </p:pic>
      <p:sp>
        <p:nvSpPr>
          <p:cNvPr id="17" name="TextBox 16"/>
          <p:cNvSpPr txBox="1"/>
          <p:nvPr/>
        </p:nvSpPr>
        <p:spPr>
          <a:xfrm>
            <a:off x="8001000" y="2487168"/>
            <a:ext cx="3474720" cy="256032"/>
          </a:xfrm>
          <a:prstGeom prst="rect">
            <a:avLst/>
          </a:prstGeom>
          <a:noFill/>
        </p:spPr>
        <p:txBody>
          <a:bodyPr wrap="square" lIns="0" rIns="0" tIns="0" bIns="0" anchor="t">
            <a:spAutoFit/>
          </a:bodyPr>
          <a:lstStyle/>
          <a:p>
            <a:pPr algn="l"/>
            <a:r>
              <a:rPr sz="1400" b="1" i="0">
                <a:solidFill>
                  <a:srgbClr val="14171A"/>
                </a:solidFill>
                <a:latin typeface="Arial"/>
              </a:rPr>
              <a:t>Stint within a race</a:t>
            </a:r>
          </a:p>
        </p:txBody>
      </p:sp>
      <p:sp>
        <p:nvSpPr>
          <p:cNvPr id="18" name="TextBox 17"/>
          <p:cNvSpPr txBox="1"/>
          <p:nvPr/>
        </p:nvSpPr>
        <p:spPr>
          <a:xfrm>
            <a:off x="8001000" y="2752344"/>
            <a:ext cx="3474720" cy="274320"/>
          </a:xfrm>
          <a:prstGeom prst="rect">
            <a:avLst/>
          </a:prstGeom>
          <a:noFill/>
        </p:spPr>
        <p:txBody>
          <a:bodyPr wrap="square" lIns="0" rIns="0" tIns="0" bIns="0" anchor="t">
            <a:spAutoFit/>
          </a:bodyPr>
          <a:lstStyle/>
          <a:p>
            <a:pPr algn="l"/>
            <a:r>
              <a:rPr sz="1300" b="0" i="0">
                <a:solidFill>
                  <a:srgbClr val="5B6168"/>
                </a:solidFill>
                <a:latin typeface="Calibri"/>
              </a:rPr>
              <a:t>The part that separates strategies.</a:t>
            </a:r>
          </a:p>
        </p:txBody>
      </p:sp>
      <p:sp>
        <p:nvSpPr>
          <p:cNvPr id="19" name="Rounded Rectangle 18"/>
          <p:cNvSpPr/>
          <p:nvPr/>
        </p:nvSpPr>
        <p:spPr>
          <a:xfrm>
            <a:off x="5897880" y="3136392"/>
            <a:ext cx="5742432" cy="658368"/>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Equation" descr="\sigma_\varepsilon = 0.650"/>
          <p:cNvPicPr>
            <a:picLocks noChangeAspect="1"/>
          </p:cNvPicPr>
          <p:nvPr/>
        </p:nvPicPr>
        <p:blipFill>
          <a:blip r:embed="rId7"/>
          <a:stretch>
            <a:fillRect/>
          </a:stretch>
        </p:blipFill>
        <p:spPr>
          <a:xfrm>
            <a:off x="6126480" y="3345688"/>
            <a:ext cx="932688" cy="239776"/>
          </a:xfrm>
          <a:prstGeom prst="rect">
            <a:avLst/>
          </a:prstGeom>
        </p:spPr>
      </p:pic>
      <p:sp>
        <p:nvSpPr>
          <p:cNvPr id="21" name="TextBox 20"/>
          <p:cNvSpPr txBox="1"/>
          <p:nvPr/>
        </p:nvSpPr>
        <p:spPr>
          <a:xfrm>
            <a:off x="8001000" y="3209544"/>
            <a:ext cx="3474720" cy="256032"/>
          </a:xfrm>
          <a:prstGeom prst="rect">
            <a:avLst/>
          </a:prstGeom>
          <a:noFill/>
        </p:spPr>
        <p:txBody>
          <a:bodyPr wrap="square" lIns="0" rIns="0" tIns="0" bIns="0" anchor="t">
            <a:spAutoFit/>
          </a:bodyPr>
          <a:lstStyle/>
          <a:p>
            <a:pPr algn="l"/>
            <a:r>
              <a:rPr sz="1400" b="1" i="0">
                <a:solidFill>
                  <a:srgbClr val="14171A"/>
                </a:solidFill>
                <a:latin typeface="Arial"/>
              </a:rPr>
              <a:t>Lap within a stint</a:t>
            </a:r>
          </a:p>
        </p:txBody>
      </p:sp>
      <p:sp>
        <p:nvSpPr>
          <p:cNvPr id="22" name="TextBox 21"/>
          <p:cNvSpPr txBox="1"/>
          <p:nvPr/>
        </p:nvSpPr>
        <p:spPr>
          <a:xfrm>
            <a:off x="8001000" y="3474720"/>
            <a:ext cx="3474720" cy="274320"/>
          </a:xfrm>
          <a:prstGeom prst="rect">
            <a:avLst/>
          </a:prstGeom>
          <a:noFill/>
        </p:spPr>
        <p:txBody>
          <a:bodyPr wrap="square" lIns="0" rIns="0" tIns="0" bIns="0" anchor="t">
            <a:spAutoFit/>
          </a:bodyPr>
          <a:lstStyle/>
          <a:p>
            <a:pPr algn="l"/>
            <a:r>
              <a:rPr sz="1300" b="0" i="0">
                <a:solidFill>
                  <a:srgbClr val="5B6168"/>
                </a:solidFill>
                <a:latin typeface="Calibri"/>
              </a:rPr>
              <a:t>Averages out over a stint.</a:t>
            </a:r>
          </a:p>
        </p:txBody>
      </p:sp>
      <p:sp>
        <p:nvSpPr>
          <p:cNvPr id="23" name="TextBox 22"/>
          <p:cNvSpPr txBox="1"/>
          <p:nvPr/>
        </p:nvSpPr>
        <p:spPr>
          <a:xfrm>
            <a:off x="548640" y="4005072"/>
            <a:ext cx="7315200" cy="274320"/>
          </a:xfrm>
          <a:prstGeom prst="rect">
            <a:avLst/>
          </a:prstGeom>
          <a:noFill/>
        </p:spPr>
        <p:txBody>
          <a:bodyPr wrap="square" lIns="0" rIns="0" tIns="0" bIns="0" anchor="t">
            <a:spAutoFit/>
          </a:bodyPr>
          <a:lstStyle/>
          <a:p>
            <a:pPr algn="l"/>
            <a:r>
              <a:rPr sz="1300" b="1" i="0">
                <a:solidFill>
                  <a:srgbClr val="14171A"/>
                </a:solidFill>
                <a:latin typeface="Arial"/>
              </a:rPr>
              <a:t>Share of error variance (in % of pace, squared)</a:t>
            </a:r>
          </a:p>
        </p:txBody>
      </p:sp>
      <p:sp>
        <p:nvSpPr>
          <p:cNvPr id="24" name="Rectangle 23"/>
          <p:cNvSpPr/>
          <p:nvPr/>
        </p:nvSpPr>
        <p:spPr>
          <a:xfrm>
            <a:off x="548640" y="4315968"/>
            <a:ext cx="3583167" cy="457200"/>
          </a:xfrm>
          <a:prstGeom prst="rect">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315968"/>
            <a:ext cx="3427719" cy="457200"/>
          </a:xfrm>
          <a:prstGeom prst="rect">
            <a:avLst/>
          </a:prstGeom>
          <a:noFill/>
        </p:spPr>
        <p:txBody>
          <a:bodyPr wrap="square" lIns="0" rIns="0" tIns="0" bIns="0" anchor="ctr">
            <a:spAutoFit/>
          </a:bodyPr>
          <a:lstStyle/>
          <a:p>
            <a:pPr algn="l"/>
            <a:r>
              <a:rPr sz="1300" b="1" i="0">
                <a:solidFill>
                  <a:srgbClr val="FFFFFF"/>
                </a:solidFill>
                <a:latin typeface="Calibri"/>
              </a:rPr>
              <a:t>Race  33%</a:t>
            </a:r>
          </a:p>
        </p:txBody>
      </p:sp>
      <p:sp>
        <p:nvSpPr>
          <p:cNvPr id="26" name="Rectangle 25"/>
          <p:cNvSpPr/>
          <p:nvPr/>
        </p:nvSpPr>
        <p:spPr>
          <a:xfrm>
            <a:off x="4159239" y="4315968"/>
            <a:ext cx="2305496" cy="457200"/>
          </a:xfrm>
          <a:prstGeom prst="rect">
            <a:avLst/>
          </a:prstGeom>
          <a:solidFill>
            <a:srgbClr val="6E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68967" y="4315968"/>
            <a:ext cx="2150048" cy="457200"/>
          </a:xfrm>
          <a:prstGeom prst="rect">
            <a:avLst/>
          </a:prstGeom>
          <a:noFill/>
        </p:spPr>
        <p:txBody>
          <a:bodyPr wrap="square" lIns="0" rIns="0" tIns="0" bIns="0" anchor="ctr">
            <a:spAutoFit/>
          </a:bodyPr>
          <a:lstStyle/>
          <a:p>
            <a:pPr algn="l"/>
            <a:r>
              <a:rPr sz="1300" b="1" i="0">
                <a:solidFill>
                  <a:srgbClr val="FFFFFF"/>
                </a:solidFill>
                <a:latin typeface="Calibri"/>
              </a:rPr>
              <a:t>Stint  21%</a:t>
            </a:r>
          </a:p>
        </p:txBody>
      </p:sp>
      <p:sp>
        <p:nvSpPr>
          <p:cNvPr id="28" name="Rectangle 27"/>
          <p:cNvSpPr/>
          <p:nvPr/>
        </p:nvSpPr>
        <p:spPr>
          <a:xfrm>
            <a:off x="6492167" y="4315968"/>
            <a:ext cx="5120712" cy="457200"/>
          </a:xfrm>
          <a:prstGeom prst="rect">
            <a:avLst/>
          </a:prstGeom>
          <a:solidFill>
            <a:srgbClr val="B4B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895" y="4315968"/>
            <a:ext cx="4965264" cy="457200"/>
          </a:xfrm>
          <a:prstGeom prst="rect">
            <a:avLst/>
          </a:prstGeom>
          <a:noFill/>
        </p:spPr>
        <p:txBody>
          <a:bodyPr wrap="square" lIns="0" rIns="0" tIns="0" bIns="0" anchor="ctr">
            <a:spAutoFit/>
          </a:bodyPr>
          <a:lstStyle/>
          <a:p>
            <a:pPr algn="l"/>
            <a:r>
              <a:rPr sz="1300" b="1" i="0">
                <a:solidFill>
                  <a:srgbClr val="14171A"/>
                </a:solidFill>
                <a:latin typeface="Calibri"/>
              </a:rPr>
              <a:t>Lap  46%</a:t>
            </a:r>
          </a:p>
        </p:txBody>
      </p:sp>
      <p:sp>
        <p:nvSpPr>
          <p:cNvPr id="30" name="Rounded Rectangle 29"/>
          <p:cNvSpPr/>
          <p:nvPr/>
        </p:nvSpPr>
        <p:spPr>
          <a:xfrm>
            <a:off x="548640" y="4956048"/>
            <a:ext cx="5458968" cy="11887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5047488"/>
            <a:ext cx="5486400" cy="237744"/>
          </a:xfrm>
          <a:prstGeom prst="rect">
            <a:avLst/>
          </a:prstGeom>
          <a:noFill/>
        </p:spPr>
        <p:txBody>
          <a:bodyPr wrap="square" lIns="0" rIns="0" tIns="0" bIns="0" anchor="t">
            <a:spAutoFit/>
          </a:bodyPr>
          <a:lstStyle/>
          <a:p>
            <a:pPr algn="l"/>
            <a:r>
              <a:rPr sz="1100" b="1" i="0">
                <a:solidFill>
                  <a:srgbClr val="14171A"/>
                </a:solidFill>
                <a:latin typeface="Arial"/>
              </a:rPr>
              <a:t>INTRACLASS CORRELATION</a:t>
            </a:r>
          </a:p>
        </p:txBody>
      </p:sp>
      <p:pic>
        <p:nvPicPr>
          <p:cNvPr id="32" name="Equation" descr="\rho \;=\; \dfrac{\sigma_a^2}{\sigma_a^2+\sigma_b^2+\sigma_\varepsilon^2} \;=\; 0.33"/>
          <p:cNvPicPr>
            <a:picLocks noChangeAspect="1"/>
          </p:cNvPicPr>
          <p:nvPr/>
        </p:nvPicPr>
        <p:blipFill>
          <a:blip r:embed="rId8"/>
          <a:stretch>
            <a:fillRect/>
          </a:stretch>
        </p:blipFill>
        <p:spPr>
          <a:xfrm>
            <a:off x="804672" y="5371528"/>
            <a:ext cx="2523871" cy="641223"/>
          </a:xfrm>
          <a:prstGeom prst="rect">
            <a:avLst/>
          </a:prstGeom>
        </p:spPr>
      </p:pic>
      <p:sp>
        <p:nvSpPr>
          <p:cNvPr id="33" name="Rounded Rectangle 32"/>
          <p:cNvSpPr/>
          <p:nvPr/>
        </p:nvSpPr>
        <p:spPr>
          <a:xfrm>
            <a:off x="6181344" y="4956048"/>
            <a:ext cx="5458968" cy="11887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047488"/>
            <a:ext cx="5486400" cy="237744"/>
          </a:xfrm>
          <a:prstGeom prst="rect">
            <a:avLst/>
          </a:prstGeom>
          <a:noFill/>
        </p:spPr>
        <p:txBody>
          <a:bodyPr wrap="square" lIns="0" rIns="0" tIns="0" bIns="0" anchor="t">
            <a:spAutoFit/>
          </a:bodyPr>
          <a:lstStyle/>
          <a:p>
            <a:pPr algn="l"/>
            <a:r>
              <a:rPr sz="1100" b="1" i="0">
                <a:solidFill>
                  <a:srgbClr val="14171A"/>
                </a:solidFill>
                <a:latin typeface="Arial"/>
              </a:rPr>
              <a:t>EFFECTIVE SAMPLE SIZE</a:t>
            </a:r>
          </a:p>
        </p:txBody>
      </p:sp>
      <p:pic>
        <p:nvPicPr>
          <p:cNvPr id="35" name="Equation" descr="n_{\mathrm{eff}} \;=\; \dfrac{n}{1+(\bar{m}-1)\,\rho} \;=\; \dfrac{15{,}332}{14.7} \;\approx\; 1{,}040"/>
          <p:cNvPicPr>
            <a:picLocks noChangeAspect="1"/>
          </p:cNvPicPr>
          <p:nvPr/>
        </p:nvPicPr>
        <p:blipFill>
          <a:blip r:embed="rId9"/>
          <a:stretch>
            <a:fillRect/>
          </a:stretch>
        </p:blipFill>
        <p:spPr>
          <a:xfrm>
            <a:off x="6437376" y="5422265"/>
            <a:ext cx="3836543" cy="5397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FROM LAPS TO RACES</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Propagating the error predicts the race-time error</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8</a:t>
            </a:r>
          </a:p>
        </p:txBody>
      </p:sp>
      <p:sp>
        <p:nvSpPr>
          <p:cNvPr id="6" name="Rounded Rectangle 5"/>
          <p:cNvSpPr/>
          <p:nvPr/>
        </p:nvSpPr>
        <p:spPr>
          <a:xfrm>
            <a:off x="548640" y="1691640"/>
            <a:ext cx="6035040" cy="2468880"/>
          </a:xfrm>
          <a:prstGeom prst="roundRect">
            <a:avLst>
              <a:gd name="adj" fmla="val 5185"/>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5486400" cy="237744"/>
          </a:xfrm>
          <a:prstGeom prst="rect">
            <a:avLst/>
          </a:prstGeom>
          <a:noFill/>
        </p:spPr>
        <p:txBody>
          <a:bodyPr wrap="square" lIns="0" rIns="0" tIns="0" bIns="0" anchor="t">
            <a:spAutoFit/>
          </a:bodyPr>
          <a:lstStyle/>
          <a:p>
            <a:pPr algn="l"/>
            <a:r>
              <a:rPr sz="1100" b="1" i="0">
                <a:solidFill>
                  <a:srgbClr val="E10600"/>
                </a:solidFill>
                <a:latin typeface="Arial"/>
              </a:rPr>
              <a:t>RACE-TIME ERROR FOR A GIVEN STRATEGY</a:t>
            </a:r>
          </a:p>
        </p:txBody>
      </p:sp>
      <p:pic>
        <p:nvPicPr>
          <p:cNvPr id="8" name="Equation" descr="R-\hat{R} \;=\; \dfrac{B}{100}\sum_{\ell=\ell_0}^{N} e_\ell"/>
          <p:cNvPicPr>
            <a:picLocks noChangeAspect="1"/>
          </p:cNvPicPr>
          <p:nvPr/>
        </p:nvPicPr>
        <p:blipFill>
          <a:blip r:embed="rId3"/>
          <a:stretch>
            <a:fillRect/>
          </a:stretch>
        </p:blipFill>
        <p:spPr>
          <a:xfrm>
            <a:off x="868680" y="2148840"/>
            <a:ext cx="2108962" cy="735965"/>
          </a:xfrm>
          <a:prstGeom prst="rect">
            <a:avLst/>
          </a:prstGeom>
        </p:spPr>
      </p:pic>
      <p:sp>
        <p:nvSpPr>
          <p:cNvPr id="9" name="TextBox 8"/>
          <p:cNvSpPr txBox="1"/>
          <p:nvPr/>
        </p:nvSpPr>
        <p:spPr>
          <a:xfrm>
            <a:off x="868680" y="3017520"/>
            <a:ext cx="5486400" cy="237744"/>
          </a:xfrm>
          <a:prstGeom prst="rect">
            <a:avLst/>
          </a:prstGeom>
          <a:noFill/>
        </p:spPr>
        <p:txBody>
          <a:bodyPr wrap="square" lIns="0" rIns="0" tIns="0" bIns="0" anchor="t">
            <a:spAutoFit/>
          </a:bodyPr>
          <a:lstStyle/>
          <a:p>
            <a:pPr algn="l"/>
            <a:r>
              <a:rPr sz="1100" b="1" i="0">
                <a:solidFill>
                  <a:srgbClr val="E10600"/>
                </a:solidFill>
                <a:latin typeface="Arial"/>
              </a:rPr>
              <a:t>ITS VARIANCE</a:t>
            </a:r>
          </a:p>
        </p:txBody>
      </p:sp>
      <p:pic>
        <p:nvPicPr>
          <p:cNvPr id="10" name="Equation" descr="\sigma_R^2 \;=\; \left(\dfrac{B}{100}\right)^{2}\left[\,N^2\sigma_a^2 \;+\; \sigma_b^2\sum_j n_j^2 \;+\; N\sigma_\varepsilon^2\,\right]"/>
          <p:cNvPicPr>
            <a:picLocks noChangeAspect="1"/>
          </p:cNvPicPr>
          <p:nvPr/>
        </p:nvPicPr>
        <p:blipFill>
          <a:blip r:embed="rId4"/>
          <a:stretch>
            <a:fillRect/>
          </a:stretch>
        </p:blipFill>
        <p:spPr>
          <a:xfrm>
            <a:off x="868680" y="3310128"/>
            <a:ext cx="4601590" cy="702183"/>
          </a:xfrm>
          <a:prstGeom prst="rect">
            <a:avLst/>
          </a:prstGeom>
        </p:spPr>
      </p:pic>
      <p:sp>
        <p:nvSpPr>
          <p:cNvPr id="11" name="TextBox 10"/>
          <p:cNvSpPr txBox="1"/>
          <p:nvPr/>
        </p:nvSpPr>
        <p:spPr>
          <a:xfrm>
            <a:off x="548640" y="4343400"/>
            <a:ext cx="6035040" cy="274320"/>
          </a:xfrm>
          <a:prstGeom prst="rect">
            <a:avLst/>
          </a:prstGeom>
          <a:noFill/>
        </p:spPr>
        <p:txBody>
          <a:bodyPr wrap="square" lIns="0" rIns="0" tIns="0" bIns="0" anchor="t">
            <a:spAutoFit/>
          </a:bodyPr>
          <a:lstStyle/>
          <a:p>
            <a:pPr algn="l"/>
            <a:r>
              <a:rPr sz="1300" b="1" i="0">
                <a:solidFill>
                  <a:srgbClr val="14171A"/>
                </a:solidFill>
                <a:latin typeface="Arial"/>
              </a:rPr>
              <a:t>Share of race-time variance (N = 50 laps, two stints of 25)</a:t>
            </a:r>
          </a:p>
        </p:txBody>
      </p:sp>
      <p:sp>
        <p:nvSpPr>
          <p:cNvPr id="12" name="Rectangle 11"/>
          <p:cNvSpPr/>
          <p:nvPr/>
        </p:nvSpPr>
        <p:spPr>
          <a:xfrm>
            <a:off x="548640" y="4645152"/>
            <a:ext cx="4437730" cy="457200"/>
          </a:xfrm>
          <a:prstGeom prst="rect">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645152"/>
            <a:ext cx="4282282" cy="457200"/>
          </a:xfrm>
          <a:prstGeom prst="rect">
            <a:avLst/>
          </a:prstGeom>
          <a:noFill/>
        </p:spPr>
        <p:txBody>
          <a:bodyPr wrap="square" lIns="0" rIns="0" tIns="0" bIns="0" anchor="ctr">
            <a:spAutoFit/>
          </a:bodyPr>
          <a:lstStyle/>
          <a:p>
            <a:pPr algn="l"/>
            <a:r>
              <a:rPr sz="1300" b="1" i="0">
                <a:solidFill>
                  <a:srgbClr val="FFFFFF"/>
                </a:solidFill>
                <a:latin typeface="Calibri"/>
              </a:rPr>
              <a:t>Race  74%</a:t>
            </a:r>
          </a:p>
        </p:txBody>
      </p:sp>
      <p:sp>
        <p:nvSpPr>
          <p:cNvPr id="14" name="Rectangle 13"/>
          <p:cNvSpPr/>
          <p:nvPr/>
        </p:nvSpPr>
        <p:spPr>
          <a:xfrm>
            <a:off x="5013802" y="4645152"/>
            <a:ext cx="1415112" cy="457200"/>
          </a:xfrm>
          <a:prstGeom prst="rect">
            <a:avLst/>
          </a:prstGeom>
          <a:solidFill>
            <a:srgbClr val="6E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3530" y="4645152"/>
            <a:ext cx="1259664" cy="457200"/>
          </a:xfrm>
          <a:prstGeom prst="rect">
            <a:avLst/>
          </a:prstGeom>
          <a:noFill/>
        </p:spPr>
        <p:txBody>
          <a:bodyPr wrap="square" lIns="0" rIns="0" tIns="0" bIns="0" anchor="ctr">
            <a:spAutoFit/>
          </a:bodyPr>
          <a:lstStyle/>
          <a:p>
            <a:pPr algn="l"/>
            <a:r>
              <a:rPr sz="1300" b="1" i="0">
                <a:solidFill>
                  <a:srgbClr val="FFFFFF"/>
                </a:solidFill>
                <a:latin typeface="Calibri"/>
              </a:rPr>
              <a:t>Stint  24%</a:t>
            </a:r>
          </a:p>
        </p:txBody>
      </p:sp>
      <p:sp>
        <p:nvSpPr>
          <p:cNvPr id="16" name="Rectangle 15"/>
          <p:cNvSpPr/>
          <p:nvPr/>
        </p:nvSpPr>
        <p:spPr>
          <a:xfrm>
            <a:off x="6456347" y="4645152"/>
            <a:ext cx="99900" cy="457200"/>
          </a:xfrm>
          <a:prstGeom prst="rect">
            <a:avLst/>
          </a:prstGeom>
          <a:solidFill>
            <a:srgbClr val="B4B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257800"/>
            <a:ext cx="6035040" cy="868680"/>
          </a:xfrm>
          <a:prstGeom prst="rect">
            <a:avLst/>
          </a:prstGeom>
          <a:noFill/>
        </p:spPr>
        <p:txBody>
          <a:bodyPr wrap="square" lIns="0" rIns="0" tIns="0" bIns="0" anchor="t">
            <a:spAutoFit/>
          </a:bodyPr>
          <a:lstStyle/>
          <a:p>
            <a:pPr algn="l"/>
            <a:r>
              <a:rPr sz="1400" b="0" i="0">
                <a:solidFill>
                  <a:srgbClr val="1E2226"/>
                </a:solidFill>
                <a:latin typeface="Calibri"/>
              </a:rPr>
              <a:t>Lap noise is 46% of the lap-level variance but 2% of race-time variance: it averages out. The race-level term adds up coherently and dominates.</a:t>
            </a:r>
          </a:p>
        </p:txBody>
      </p:sp>
      <p:pic>
        <p:nvPicPr>
          <p:cNvPr id="18" name="Picture 17" descr="fig_race_time_z.png"/>
          <p:cNvPicPr>
            <a:picLocks noChangeAspect="1"/>
          </p:cNvPicPr>
          <p:nvPr/>
        </p:nvPicPr>
        <p:blipFill>
          <a:blip r:embed="rId5"/>
          <a:stretch>
            <a:fillRect/>
          </a:stretch>
        </p:blipFill>
        <p:spPr>
          <a:xfrm>
            <a:off x="7040880" y="1645920"/>
            <a:ext cx="4343400" cy="2754706"/>
          </a:xfrm>
          <a:prstGeom prst="rect">
            <a:avLst/>
          </a:prstGeom>
        </p:spPr>
      </p:pic>
      <p:sp>
        <p:nvSpPr>
          <p:cNvPr id="19" name="TextBox 18"/>
          <p:cNvSpPr txBox="1"/>
          <p:nvPr/>
        </p:nvSpPr>
        <p:spPr>
          <a:xfrm>
            <a:off x="6858000" y="4315968"/>
            <a:ext cx="4782312" cy="457200"/>
          </a:xfrm>
          <a:prstGeom prst="rect">
            <a:avLst/>
          </a:prstGeom>
          <a:noFill/>
        </p:spPr>
        <p:txBody>
          <a:bodyPr wrap="square" lIns="0" rIns="0" tIns="0" bIns="0" anchor="t">
            <a:spAutoFit/>
          </a:bodyPr>
          <a:lstStyle/>
          <a:p>
            <a:pPr algn="l"/>
            <a:r>
              <a:rPr sz="1200" b="0" i="0">
                <a:solidFill>
                  <a:srgbClr val="5B6168"/>
                </a:solidFill>
                <a:latin typeface="Calibri"/>
              </a:rPr>
              <a:t>60 green-flag driver-races, 2025. Curve: standard normal. The spread matches; the shape is rough.</a:t>
            </a:r>
          </a:p>
        </p:txBody>
      </p:sp>
      <p:sp>
        <p:nvSpPr>
          <p:cNvPr id="20" name="Rounded Rectangle 19"/>
          <p:cNvSpPr/>
          <p:nvPr/>
        </p:nvSpPr>
        <p:spPr>
          <a:xfrm>
            <a:off x="6858000" y="4892040"/>
            <a:ext cx="1527048" cy="12344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86016" y="4956048"/>
            <a:ext cx="1280160" cy="457200"/>
          </a:xfrm>
          <a:prstGeom prst="rect">
            <a:avLst/>
          </a:prstGeom>
          <a:noFill/>
        </p:spPr>
        <p:txBody>
          <a:bodyPr wrap="square" lIns="0" rIns="0" tIns="0" bIns="0" anchor="ctr">
            <a:spAutoFit/>
          </a:bodyPr>
          <a:lstStyle/>
          <a:p>
            <a:pPr algn="l"/>
            <a:r>
              <a:rPr sz="2000" b="1" i="0">
                <a:solidFill>
                  <a:srgbClr val="E10600"/>
                </a:solidFill>
                <a:latin typeface="Arial"/>
              </a:rPr>
              <a:t>28.0 s</a:t>
            </a:r>
          </a:p>
        </p:txBody>
      </p:sp>
      <p:sp>
        <p:nvSpPr>
          <p:cNvPr id="22" name="TextBox 21"/>
          <p:cNvSpPr txBox="1"/>
          <p:nvPr/>
        </p:nvSpPr>
        <p:spPr>
          <a:xfrm>
            <a:off x="6986016" y="5440680"/>
            <a:ext cx="1298448" cy="640080"/>
          </a:xfrm>
          <a:prstGeom prst="rect">
            <a:avLst/>
          </a:prstGeom>
          <a:noFill/>
        </p:spPr>
        <p:txBody>
          <a:bodyPr wrap="square" lIns="0" rIns="0" tIns="0" bIns="0" anchor="t">
            <a:spAutoFit/>
          </a:bodyPr>
          <a:lstStyle/>
          <a:p>
            <a:pPr algn="l"/>
            <a:r>
              <a:rPr sz="1200" b="0" i="0">
                <a:solidFill>
                  <a:srgbClr val="5B6168"/>
                </a:solidFill>
                <a:latin typeface="Calibri"/>
              </a:rPr>
              <a:t>predicted SD, from 2024 variances</a:t>
            </a:r>
          </a:p>
        </p:txBody>
      </p:sp>
      <p:sp>
        <p:nvSpPr>
          <p:cNvPr id="23" name="Rounded Rectangle 22"/>
          <p:cNvSpPr/>
          <p:nvPr/>
        </p:nvSpPr>
        <p:spPr>
          <a:xfrm>
            <a:off x="8485632" y="4892040"/>
            <a:ext cx="1527048" cy="12344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3648" y="4956048"/>
            <a:ext cx="1280160" cy="457200"/>
          </a:xfrm>
          <a:prstGeom prst="rect">
            <a:avLst/>
          </a:prstGeom>
          <a:noFill/>
        </p:spPr>
        <p:txBody>
          <a:bodyPr wrap="square" lIns="0" rIns="0" tIns="0" bIns="0" anchor="ctr">
            <a:spAutoFit/>
          </a:bodyPr>
          <a:lstStyle/>
          <a:p>
            <a:pPr algn="l"/>
            <a:r>
              <a:rPr sz="2000" b="1" i="0">
                <a:solidFill>
                  <a:srgbClr val="14171A"/>
                </a:solidFill>
                <a:latin typeface="Arial"/>
              </a:rPr>
              <a:t>27.9 s</a:t>
            </a:r>
          </a:p>
        </p:txBody>
      </p:sp>
      <p:sp>
        <p:nvSpPr>
          <p:cNvPr id="25" name="TextBox 24"/>
          <p:cNvSpPr txBox="1"/>
          <p:nvPr/>
        </p:nvSpPr>
        <p:spPr>
          <a:xfrm>
            <a:off x="8613648" y="5440680"/>
            <a:ext cx="1298448" cy="640080"/>
          </a:xfrm>
          <a:prstGeom prst="rect">
            <a:avLst/>
          </a:prstGeom>
          <a:noFill/>
        </p:spPr>
        <p:txBody>
          <a:bodyPr wrap="square" lIns="0" rIns="0" tIns="0" bIns="0" anchor="t">
            <a:spAutoFit/>
          </a:bodyPr>
          <a:lstStyle/>
          <a:p>
            <a:pPr algn="l"/>
            <a:r>
              <a:rPr sz="1200" b="0" i="0">
                <a:solidFill>
                  <a:srgbClr val="5B6168"/>
                </a:solidFill>
                <a:latin typeface="Calibri"/>
              </a:rPr>
              <a:t>observed RMSE, 2025</a:t>
            </a:r>
          </a:p>
        </p:txBody>
      </p:sp>
      <p:sp>
        <p:nvSpPr>
          <p:cNvPr id="26" name="Rounded Rectangle 25"/>
          <p:cNvSpPr/>
          <p:nvPr/>
        </p:nvSpPr>
        <p:spPr>
          <a:xfrm>
            <a:off x="10113264" y="4892040"/>
            <a:ext cx="1527048" cy="12344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4956048"/>
            <a:ext cx="1280160" cy="457200"/>
          </a:xfrm>
          <a:prstGeom prst="rect">
            <a:avLst/>
          </a:prstGeom>
          <a:noFill/>
        </p:spPr>
        <p:txBody>
          <a:bodyPr wrap="square" lIns="0" rIns="0" tIns="0" bIns="0" anchor="ctr">
            <a:spAutoFit/>
          </a:bodyPr>
          <a:lstStyle/>
          <a:p>
            <a:pPr algn="l"/>
            <a:r>
              <a:rPr sz="2000" b="1" i="0">
                <a:solidFill>
                  <a:srgbClr val="14171A"/>
                </a:solidFill>
                <a:latin typeface="Arial"/>
              </a:rPr>
              <a:t>1.03</a:t>
            </a:r>
          </a:p>
        </p:txBody>
      </p:sp>
      <p:sp>
        <p:nvSpPr>
          <p:cNvPr id="28" name="TextBox 27"/>
          <p:cNvSpPr txBox="1"/>
          <p:nvPr/>
        </p:nvSpPr>
        <p:spPr>
          <a:xfrm>
            <a:off x="10241280" y="5440680"/>
            <a:ext cx="1298448" cy="640080"/>
          </a:xfrm>
          <a:prstGeom prst="rect">
            <a:avLst/>
          </a:prstGeom>
          <a:noFill/>
        </p:spPr>
        <p:txBody>
          <a:bodyPr wrap="square" lIns="0" rIns="0" tIns="0" bIns="0" anchor="t">
            <a:spAutoFit/>
          </a:bodyPr>
          <a:lstStyle/>
          <a:p>
            <a:pPr algn="l"/>
            <a:r>
              <a:rPr sz="1200" b="0" i="0">
                <a:solidFill>
                  <a:srgbClr val="5B6168"/>
                </a:solidFill>
                <a:latin typeface="Calibri"/>
              </a:rPr>
              <a:t>SD of z (1 if the model holds)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OPTIMISATION</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A small constrained search, solved exactly by enumeration</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9</a:t>
            </a:r>
          </a:p>
        </p:txBody>
      </p:sp>
      <p:sp>
        <p:nvSpPr>
          <p:cNvPr id="6" name="Rounded Rectangle 5"/>
          <p:cNvSpPr/>
          <p:nvPr/>
        </p:nvSpPr>
        <p:spPr>
          <a:xfrm>
            <a:off x="548640" y="1691640"/>
            <a:ext cx="5577840" cy="160020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5486400" cy="237744"/>
          </a:xfrm>
          <a:prstGeom prst="rect">
            <a:avLst/>
          </a:prstGeom>
          <a:noFill/>
        </p:spPr>
        <p:txBody>
          <a:bodyPr wrap="square" lIns="0" rIns="0" tIns="0" bIns="0" anchor="t">
            <a:spAutoFit/>
          </a:bodyPr>
          <a:lstStyle/>
          <a:p>
            <a:pPr algn="l"/>
            <a:r>
              <a:rPr sz="1100" b="1" i="0">
                <a:solidFill>
                  <a:srgbClr val="E10600"/>
                </a:solidFill>
                <a:latin typeface="Arial"/>
              </a:rPr>
              <a:t>FEASIBLE SET</a:t>
            </a:r>
          </a:p>
        </p:txBody>
      </p:sp>
      <p:pic>
        <p:nvPicPr>
          <p:cNvPr id="8" name="Equation" descr="\mathcal{S}=\{\,s:\;\; n_j\geq 5,\;\;\; |\{c_j\}|\geq 2,\;\;\; a_j\leq A_{0.98}(c_j)\;\;\; \forall j\,\}"/>
          <p:cNvPicPr>
            <a:picLocks noChangeAspect="1"/>
          </p:cNvPicPr>
          <p:nvPr/>
        </p:nvPicPr>
        <p:blipFill>
          <a:blip r:embed="rId3"/>
          <a:stretch>
            <a:fillRect/>
          </a:stretch>
        </p:blipFill>
        <p:spPr>
          <a:xfrm>
            <a:off x="822959" y="2302304"/>
            <a:ext cx="5029200" cy="333150"/>
          </a:xfrm>
          <a:prstGeom prst="rect">
            <a:avLst/>
          </a:prstGeom>
        </p:spPr>
      </p:pic>
      <p:sp>
        <p:nvSpPr>
          <p:cNvPr id="9" name="TextBox 8"/>
          <p:cNvSpPr txBox="1"/>
          <p:nvPr/>
        </p:nvSpPr>
        <p:spPr>
          <a:xfrm>
            <a:off x="868680" y="2852928"/>
            <a:ext cx="5029200" cy="274320"/>
          </a:xfrm>
          <a:prstGeom prst="rect">
            <a:avLst/>
          </a:prstGeom>
          <a:noFill/>
        </p:spPr>
        <p:txBody>
          <a:bodyPr wrap="square" lIns="0" rIns="0" tIns="0" bIns="0" anchor="t">
            <a:spAutoFit/>
          </a:bodyPr>
          <a:lstStyle/>
          <a:p>
            <a:pPr algn="l"/>
            <a:r>
              <a:rPr sz="1200" b="0" i="0">
                <a:solidFill>
                  <a:srgbClr val="C9CDD2"/>
                </a:solidFill>
                <a:latin typeface="Calibri"/>
              </a:rPr>
              <a:t>n: stint length.  c: compound.  a: tyre age at the end of the stint.</a:t>
            </a:r>
          </a:p>
        </p:txBody>
      </p:sp>
      <p:sp>
        <p:nvSpPr>
          <p:cNvPr id="10" name="TextBox 9"/>
          <p:cNvSpPr txBox="1"/>
          <p:nvPr/>
        </p:nvSpPr>
        <p:spPr>
          <a:xfrm>
            <a:off x="548640" y="3474720"/>
            <a:ext cx="5577840" cy="274320"/>
          </a:xfrm>
          <a:prstGeom prst="rect">
            <a:avLst/>
          </a:prstGeom>
          <a:noFill/>
        </p:spPr>
        <p:txBody>
          <a:bodyPr wrap="square" lIns="0" rIns="0" tIns="0" bIns="0" anchor="t">
            <a:spAutoFit/>
          </a:bodyPr>
          <a:lstStyle/>
          <a:p>
            <a:pPr algn="l"/>
            <a:r>
              <a:rPr sz="1300" b="1" i="0">
                <a:solidFill>
                  <a:srgbClr val="14171A"/>
                </a:solidFill>
                <a:latin typeface="Arial"/>
              </a:rPr>
              <a:t>Example: 2025 Saudi Arabian Grand Prix, winner</a:t>
            </a:r>
          </a:p>
        </p:txBody>
      </p:sp>
      <p:sp>
        <p:nvSpPr>
          <p:cNvPr id="11" name="Rounded Rectangle 10"/>
          <p:cNvSpPr/>
          <p:nvPr/>
        </p:nvSpPr>
        <p:spPr>
          <a:xfrm>
            <a:off x="548640" y="3813048"/>
            <a:ext cx="5577840" cy="521207"/>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Equation" descr="3 \times 30 = 90"/>
          <p:cNvPicPr>
            <a:picLocks noChangeAspect="1"/>
          </p:cNvPicPr>
          <p:nvPr/>
        </p:nvPicPr>
        <p:blipFill>
          <a:blip r:embed="rId4"/>
          <a:stretch>
            <a:fillRect/>
          </a:stretch>
        </p:blipFill>
        <p:spPr>
          <a:xfrm>
            <a:off x="749808" y="3968750"/>
            <a:ext cx="896112" cy="209804"/>
          </a:xfrm>
          <a:prstGeom prst="rect">
            <a:avLst/>
          </a:prstGeom>
        </p:spPr>
      </p:pic>
      <p:sp>
        <p:nvSpPr>
          <p:cNvPr id="13" name="TextBox 12"/>
          <p:cNvSpPr txBox="1"/>
          <p:nvPr/>
        </p:nvSpPr>
        <p:spPr>
          <a:xfrm>
            <a:off x="2697480" y="3813048"/>
            <a:ext cx="3337560" cy="521207"/>
          </a:xfrm>
          <a:prstGeom prst="rect">
            <a:avLst/>
          </a:prstGeom>
          <a:noFill/>
        </p:spPr>
        <p:txBody>
          <a:bodyPr wrap="square" lIns="0" rIns="0" tIns="0" bIns="0" anchor="ctr">
            <a:spAutoFit/>
          </a:bodyPr>
          <a:lstStyle/>
          <a:p>
            <a:pPr algn="l"/>
            <a:r>
              <a:rPr sz="1300" b="0" i="0">
                <a:solidFill>
                  <a:srgbClr val="5B6168"/>
                </a:solidFill>
                <a:latin typeface="Calibri"/>
              </a:rPr>
              <a:t>one-stop candidates, 3 compounds</a:t>
            </a:r>
          </a:p>
        </p:txBody>
      </p:sp>
      <p:sp>
        <p:nvSpPr>
          <p:cNvPr id="14" name="Rounded Rectangle 13"/>
          <p:cNvSpPr/>
          <p:nvPr/>
        </p:nvSpPr>
        <p:spPr>
          <a:xfrm>
            <a:off x="548640" y="4398264"/>
            <a:ext cx="5577840" cy="521207"/>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Equation" descr="9 \times 78 = 702"/>
          <p:cNvPicPr>
            <a:picLocks noChangeAspect="1"/>
          </p:cNvPicPr>
          <p:nvPr/>
        </p:nvPicPr>
        <p:blipFill>
          <a:blip r:embed="rId5"/>
          <a:stretch>
            <a:fillRect/>
          </a:stretch>
        </p:blipFill>
        <p:spPr>
          <a:xfrm>
            <a:off x="749808" y="4553966"/>
            <a:ext cx="985012" cy="209804"/>
          </a:xfrm>
          <a:prstGeom prst="rect">
            <a:avLst/>
          </a:prstGeom>
        </p:spPr>
      </p:pic>
      <p:sp>
        <p:nvSpPr>
          <p:cNvPr id="16" name="TextBox 15"/>
          <p:cNvSpPr txBox="1"/>
          <p:nvPr/>
        </p:nvSpPr>
        <p:spPr>
          <a:xfrm>
            <a:off x="2697480" y="4398264"/>
            <a:ext cx="3337560" cy="521207"/>
          </a:xfrm>
          <a:prstGeom prst="rect">
            <a:avLst/>
          </a:prstGeom>
          <a:noFill/>
        </p:spPr>
        <p:txBody>
          <a:bodyPr wrap="square" lIns="0" rIns="0" tIns="0" bIns="0" anchor="ctr">
            <a:spAutoFit/>
          </a:bodyPr>
          <a:lstStyle/>
          <a:p>
            <a:pPr algn="l"/>
            <a:r>
              <a:rPr sz="1300" b="0" i="0">
                <a:solidFill>
                  <a:srgbClr val="5B6168"/>
                </a:solidFill>
                <a:latin typeface="Calibri"/>
              </a:rPr>
              <a:t>two-stop candidates, pit-lap step 2</a:t>
            </a:r>
          </a:p>
        </p:txBody>
      </p:sp>
      <p:sp>
        <p:nvSpPr>
          <p:cNvPr id="17" name="Rounded Rectangle 16"/>
          <p:cNvSpPr/>
          <p:nvPr/>
        </p:nvSpPr>
        <p:spPr>
          <a:xfrm>
            <a:off x="548640" y="4983480"/>
            <a:ext cx="5577840" cy="521207"/>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Equation" descr="|\mathcal{S}| = 497"/>
          <p:cNvPicPr>
            <a:picLocks noChangeAspect="1"/>
          </p:cNvPicPr>
          <p:nvPr/>
        </p:nvPicPr>
        <p:blipFill>
          <a:blip r:embed="rId6"/>
          <a:stretch>
            <a:fillRect/>
          </a:stretch>
        </p:blipFill>
        <p:spPr>
          <a:xfrm>
            <a:off x="749808" y="5139182"/>
            <a:ext cx="714756" cy="209804"/>
          </a:xfrm>
          <a:prstGeom prst="rect">
            <a:avLst/>
          </a:prstGeom>
        </p:spPr>
      </p:pic>
      <p:sp>
        <p:nvSpPr>
          <p:cNvPr id="19" name="TextBox 18"/>
          <p:cNvSpPr txBox="1"/>
          <p:nvPr/>
        </p:nvSpPr>
        <p:spPr>
          <a:xfrm>
            <a:off x="2697480" y="4983480"/>
            <a:ext cx="3337560" cy="521207"/>
          </a:xfrm>
          <a:prstGeom prst="rect">
            <a:avLst/>
          </a:prstGeom>
          <a:noFill/>
        </p:spPr>
        <p:txBody>
          <a:bodyPr wrap="square" lIns="0" rIns="0" tIns="0" bIns="0" anchor="ctr">
            <a:spAutoFit/>
          </a:bodyPr>
          <a:lstStyle/>
          <a:p>
            <a:pPr algn="l"/>
            <a:r>
              <a:rPr sz="1300" b="0" i="0">
                <a:solidFill>
                  <a:srgbClr val="5B6168"/>
                </a:solidFill>
                <a:latin typeface="Calibri"/>
              </a:rPr>
              <a:t>feasible: 23 one-stop, 474 two-stop</a:t>
            </a:r>
          </a:p>
        </p:txBody>
      </p:sp>
      <p:sp>
        <p:nvSpPr>
          <p:cNvPr id="20" name="Rounded Rectangle 19"/>
          <p:cNvSpPr/>
          <p:nvPr/>
        </p:nvSpPr>
        <p:spPr>
          <a:xfrm>
            <a:off x="548640" y="5568696"/>
            <a:ext cx="5577840" cy="521207"/>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Equation" descr="497 \times 39 = 19{,}383"/>
          <p:cNvPicPr>
            <a:picLocks noChangeAspect="1"/>
          </p:cNvPicPr>
          <p:nvPr/>
        </p:nvPicPr>
        <p:blipFill>
          <a:blip r:embed="rId7"/>
          <a:stretch>
            <a:fillRect/>
          </a:stretch>
        </p:blipFill>
        <p:spPr>
          <a:xfrm>
            <a:off x="749808" y="5724398"/>
            <a:ext cx="1390396" cy="209804"/>
          </a:xfrm>
          <a:prstGeom prst="rect">
            <a:avLst/>
          </a:prstGeom>
        </p:spPr>
      </p:pic>
      <p:sp>
        <p:nvSpPr>
          <p:cNvPr id="22" name="TextBox 21"/>
          <p:cNvSpPr txBox="1"/>
          <p:nvPr/>
        </p:nvSpPr>
        <p:spPr>
          <a:xfrm>
            <a:off x="2697480" y="5568696"/>
            <a:ext cx="3337560" cy="521207"/>
          </a:xfrm>
          <a:prstGeom prst="rect">
            <a:avLst/>
          </a:prstGeom>
          <a:noFill/>
        </p:spPr>
        <p:txBody>
          <a:bodyPr wrap="square" lIns="0" rIns="0" tIns="0" bIns="0" anchor="ctr">
            <a:spAutoFit/>
          </a:bodyPr>
          <a:lstStyle/>
          <a:p>
            <a:pPr algn="l"/>
            <a:r>
              <a:rPr sz="1300" b="0" i="0">
                <a:solidFill>
                  <a:srgbClr val="5B6168"/>
                </a:solidFill>
                <a:latin typeface="Calibri"/>
              </a:rPr>
              <a:t>lap predictions, one model call</a:t>
            </a:r>
          </a:p>
        </p:txBody>
      </p:sp>
      <p:pic>
        <p:nvPicPr>
          <p:cNvPr id="23" name="Picture 22" descr="fig_objective.png"/>
          <p:cNvPicPr>
            <a:picLocks noChangeAspect="1"/>
          </p:cNvPicPr>
          <p:nvPr/>
        </p:nvPicPr>
        <p:blipFill>
          <a:blip r:embed="rId8"/>
          <a:stretch>
            <a:fillRect/>
          </a:stretch>
        </p:blipFill>
        <p:spPr>
          <a:xfrm>
            <a:off x="6355080" y="1645920"/>
            <a:ext cx="5285232" cy="3346490"/>
          </a:xfrm>
          <a:prstGeom prst="rect">
            <a:avLst/>
          </a:prstGeom>
        </p:spPr>
      </p:pic>
      <p:sp>
        <p:nvSpPr>
          <p:cNvPr id="24" name="TextBox 23"/>
          <p:cNvSpPr txBox="1"/>
          <p:nvPr/>
        </p:nvSpPr>
        <p:spPr>
          <a:xfrm>
            <a:off x="6355080" y="5029200"/>
            <a:ext cx="5285232" cy="822960"/>
          </a:xfrm>
          <a:prstGeom prst="rect">
            <a:avLst/>
          </a:prstGeom>
          <a:noFill/>
        </p:spPr>
        <p:txBody>
          <a:bodyPr wrap="square" lIns="0" rIns="0" tIns="0" bIns="0" anchor="t">
            <a:spAutoFit/>
          </a:bodyPr>
          <a:lstStyle/>
          <a:p>
            <a:pPr algn="l"/>
            <a:r>
              <a:rPr sz="1400" b="0" i="0">
                <a:solidFill>
                  <a:srgbClr val="1E2226"/>
                </a:solidFill>
                <a:latin typeface="Calibri"/>
              </a:rPr>
              <a:t>The objective is flat near its minimum: 15 strategies are within 2 s of the best. The grey band is one standard deviation of a predicted race time (12 s).</a:t>
            </a:r>
          </a:p>
        </p:txBody>
      </p:sp>
      <p:sp>
        <p:nvSpPr>
          <p:cNvPr id="25" name="TextBox 24"/>
          <p:cNvSpPr txBox="1"/>
          <p:nvPr/>
        </p:nvSpPr>
        <p:spPr>
          <a:xfrm>
            <a:off x="6355080" y="5760720"/>
            <a:ext cx="5285232" cy="457200"/>
          </a:xfrm>
          <a:prstGeom prst="rect">
            <a:avLst/>
          </a:prstGeom>
          <a:noFill/>
        </p:spPr>
        <p:txBody>
          <a:bodyPr wrap="square" lIns="0" rIns="0" tIns="0" bIns="0" anchor="t">
            <a:spAutoFit/>
          </a:bodyPr>
          <a:lstStyle/>
          <a:p>
            <a:pPr algn="l"/>
            <a:r>
              <a:rPr sz="1300" b="0" i="0">
                <a:solidFill>
                  <a:srgbClr val="5B6168"/>
                </a:solidFill>
                <a:latin typeface="Calibri"/>
              </a:rPr>
              <a:t>Enumeration is exact, so the only error in the recommendation is the error in the predicted race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DECISION UNDER UNCERTAINTY</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The minimiser is not stable: the signal is a fifth of the noise</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10</a:t>
            </a:r>
          </a:p>
        </p:txBody>
      </p:sp>
      <p:sp>
        <p:nvSpPr>
          <p:cNvPr id="6" name="Rounded Rectangle 5"/>
          <p:cNvSpPr/>
          <p:nvPr/>
        </p:nvSpPr>
        <p:spPr>
          <a:xfrm>
            <a:off x="548640" y="1691640"/>
            <a:ext cx="6035040" cy="2743200"/>
          </a:xfrm>
          <a:prstGeom prst="roundRect">
            <a:avLst>
              <a:gd name="adj" fmla="val 4666"/>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5486400" cy="237744"/>
          </a:xfrm>
          <a:prstGeom prst="rect">
            <a:avLst/>
          </a:prstGeom>
          <a:noFill/>
        </p:spPr>
        <p:txBody>
          <a:bodyPr wrap="square" lIns="0" rIns="0" tIns="0" bIns="0" anchor="t">
            <a:spAutoFit/>
          </a:bodyPr>
          <a:lstStyle/>
          <a:p>
            <a:pPr algn="l"/>
            <a:r>
              <a:rPr sz="1100" b="1" i="0">
                <a:solidFill>
                  <a:srgbClr val="E10600"/>
                </a:solidFill>
                <a:latin typeface="Arial"/>
              </a:rPr>
              <a:t>NOISE SEPARATING TWO STRATEGIES (RACE TERM CANCELS)</a:t>
            </a:r>
          </a:p>
        </p:txBody>
      </p:sp>
      <p:pic>
        <p:nvPicPr>
          <p:cNvPr id="8" name="Equation" descr="\sigma^2(s) \;=\; \left(\dfrac{B}{100}\right)^{2}\left[\,\sigma_b^2\sum_j n_j^2 \;+\; N\sigma_\varepsilon^2\,\right]"/>
          <p:cNvPicPr>
            <a:picLocks noChangeAspect="1"/>
          </p:cNvPicPr>
          <p:nvPr/>
        </p:nvPicPr>
        <p:blipFill>
          <a:blip r:embed="rId3"/>
          <a:stretch>
            <a:fillRect/>
          </a:stretch>
        </p:blipFill>
        <p:spPr>
          <a:xfrm>
            <a:off x="868680" y="2148840"/>
            <a:ext cx="3872865" cy="702183"/>
          </a:xfrm>
          <a:prstGeom prst="rect">
            <a:avLst/>
          </a:prstGeom>
        </p:spPr>
      </p:pic>
      <p:sp>
        <p:nvSpPr>
          <p:cNvPr id="9" name="TextBox 8"/>
          <p:cNvSpPr txBox="1"/>
          <p:nvPr/>
        </p:nvSpPr>
        <p:spPr>
          <a:xfrm>
            <a:off x="868680" y="3154680"/>
            <a:ext cx="5486400" cy="237744"/>
          </a:xfrm>
          <a:prstGeom prst="rect">
            <a:avLst/>
          </a:prstGeom>
          <a:noFill/>
        </p:spPr>
        <p:txBody>
          <a:bodyPr wrap="square" lIns="0" rIns="0" tIns="0" bIns="0" anchor="t">
            <a:spAutoFit/>
          </a:bodyPr>
          <a:lstStyle/>
          <a:p>
            <a:pPr algn="l"/>
            <a:r>
              <a:rPr sz="1100" b="1" i="0">
                <a:solidFill>
                  <a:srgbClr val="E10600"/>
                </a:solidFill>
                <a:latin typeface="Arial"/>
              </a:rPr>
              <a:t>PROBABILITY THE RECOMMENDATION IS REALLY FASTER</a:t>
            </a:r>
          </a:p>
        </p:txBody>
      </p:sp>
      <p:pic>
        <p:nvPicPr>
          <p:cNvPr id="10" name="Equation" descr="P \;=\; \Phi\left(\dfrac{\Delta}{\sigma_\Delta}\right),\qquad \Delta=\hat{R}(s')-\hat{R}(\hat{s}),\quad \sigma_\Delta^2=\sigma^2(\hat{s})+\sigma^2(s')"/>
          <p:cNvPicPr>
            <a:picLocks noChangeAspect="1"/>
          </p:cNvPicPr>
          <p:nvPr/>
        </p:nvPicPr>
        <p:blipFill>
          <a:blip r:embed="rId4"/>
          <a:stretch>
            <a:fillRect/>
          </a:stretch>
        </p:blipFill>
        <p:spPr>
          <a:xfrm>
            <a:off x="868680" y="3456432"/>
            <a:ext cx="5394960" cy="502482"/>
          </a:xfrm>
          <a:prstGeom prst="rect">
            <a:avLst/>
          </a:prstGeom>
        </p:spPr>
      </p:pic>
      <p:sp>
        <p:nvSpPr>
          <p:cNvPr id="11" name="TextBox 10"/>
          <p:cNvSpPr txBox="1"/>
          <p:nvPr/>
        </p:nvSpPr>
        <p:spPr>
          <a:xfrm>
            <a:off x="6812280" y="1691640"/>
            <a:ext cx="4828032" cy="274320"/>
          </a:xfrm>
          <a:prstGeom prst="rect">
            <a:avLst/>
          </a:prstGeom>
          <a:noFill/>
        </p:spPr>
        <p:txBody>
          <a:bodyPr wrap="square" lIns="0" rIns="0" tIns="0" bIns="0" anchor="t">
            <a:spAutoFit/>
          </a:bodyPr>
          <a:lstStyle/>
          <a:p>
            <a:pPr algn="l"/>
            <a:r>
              <a:rPr sz="1300" b="1" i="0">
                <a:solidFill>
                  <a:srgbClr val="14171A"/>
                </a:solidFill>
                <a:latin typeface="Arial"/>
              </a:rPr>
              <a:t>Example: 2025 Saudi Arabian Grand Prix, winner</a:t>
            </a:r>
          </a:p>
        </p:txBody>
      </p:sp>
      <p:sp>
        <p:nvSpPr>
          <p:cNvPr id="12" name="Rounded Rectangle 11"/>
          <p:cNvSpPr/>
          <p:nvPr/>
        </p:nvSpPr>
        <p:spPr>
          <a:xfrm>
            <a:off x="6812280" y="2029968"/>
            <a:ext cx="4828032" cy="5394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Equation" descr="\Delta = 3.2\ \mathrm{s}"/>
          <p:cNvPicPr>
            <a:picLocks noChangeAspect="1"/>
          </p:cNvPicPr>
          <p:nvPr/>
        </p:nvPicPr>
        <p:blipFill>
          <a:blip r:embed="rId5"/>
          <a:stretch>
            <a:fillRect/>
          </a:stretch>
        </p:blipFill>
        <p:spPr>
          <a:xfrm>
            <a:off x="7013448" y="2187321"/>
            <a:ext cx="800100" cy="224790"/>
          </a:xfrm>
          <a:prstGeom prst="rect">
            <a:avLst/>
          </a:prstGeom>
        </p:spPr>
      </p:pic>
      <p:sp>
        <p:nvSpPr>
          <p:cNvPr id="14" name="TextBox 13"/>
          <p:cNvSpPr txBox="1"/>
          <p:nvPr/>
        </p:nvSpPr>
        <p:spPr>
          <a:xfrm>
            <a:off x="9418320" y="2029968"/>
            <a:ext cx="2148840" cy="539496"/>
          </a:xfrm>
          <a:prstGeom prst="rect">
            <a:avLst/>
          </a:prstGeom>
          <a:noFill/>
        </p:spPr>
        <p:txBody>
          <a:bodyPr wrap="square" lIns="0" rIns="0" tIns="0" bIns="0" anchor="ctr">
            <a:spAutoFit/>
          </a:bodyPr>
          <a:lstStyle/>
          <a:p>
            <a:pPr algn="l"/>
            <a:r>
              <a:rPr sz="1300" b="0" i="0">
                <a:solidFill>
                  <a:srgbClr val="5B6168"/>
                </a:solidFill>
                <a:latin typeface="Calibri"/>
              </a:rPr>
              <a:t>predicted gain</a:t>
            </a:r>
          </a:p>
        </p:txBody>
      </p:sp>
      <p:sp>
        <p:nvSpPr>
          <p:cNvPr id="15" name="Rounded Rectangle 14"/>
          <p:cNvSpPr/>
          <p:nvPr/>
        </p:nvSpPr>
        <p:spPr>
          <a:xfrm>
            <a:off x="6812280" y="2633472"/>
            <a:ext cx="4828032" cy="5394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Equation" descr="\sigma_\Delta = 18.2\ \mathrm{s}"/>
          <p:cNvPicPr>
            <a:picLocks noChangeAspect="1"/>
          </p:cNvPicPr>
          <p:nvPr/>
        </p:nvPicPr>
        <p:blipFill>
          <a:blip r:embed="rId6"/>
          <a:stretch>
            <a:fillRect/>
          </a:stretch>
        </p:blipFill>
        <p:spPr>
          <a:xfrm>
            <a:off x="7013448" y="2790825"/>
            <a:ext cx="967740" cy="224790"/>
          </a:xfrm>
          <a:prstGeom prst="rect">
            <a:avLst/>
          </a:prstGeom>
        </p:spPr>
      </p:pic>
      <p:sp>
        <p:nvSpPr>
          <p:cNvPr id="17" name="TextBox 16"/>
          <p:cNvSpPr txBox="1"/>
          <p:nvPr/>
        </p:nvSpPr>
        <p:spPr>
          <a:xfrm>
            <a:off x="9418320" y="2633472"/>
            <a:ext cx="2148840" cy="539496"/>
          </a:xfrm>
          <a:prstGeom prst="rect">
            <a:avLst/>
          </a:prstGeom>
          <a:noFill/>
        </p:spPr>
        <p:txBody>
          <a:bodyPr wrap="square" lIns="0" rIns="0" tIns="0" bIns="0" anchor="ctr">
            <a:spAutoFit/>
          </a:bodyPr>
          <a:lstStyle/>
          <a:p>
            <a:pPr algn="l"/>
            <a:r>
              <a:rPr sz="1300" b="0" i="0">
                <a:solidFill>
                  <a:srgbClr val="5B6168"/>
                </a:solidFill>
                <a:latin typeface="Calibri"/>
              </a:rPr>
              <a:t>its standard deviation</a:t>
            </a:r>
          </a:p>
        </p:txBody>
      </p:sp>
      <p:sp>
        <p:nvSpPr>
          <p:cNvPr id="18" name="Rounded Rectangle 17"/>
          <p:cNvSpPr/>
          <p:nvPr/>
        </p:nvSpPr>
        <p:spPr>
          <a:xfrm>
            <a:off x="6812280" y="3236976"/>
            <a:ext cx="4828032" cy="5394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Equation" descr="P = \Phi(0.18) = 0.57"/>
          <p:cNvPicPr>
            <a:picLocks noChangeAspect="1"/>
          </p:cNvPicPr>
          <p:nvPr/>
        </p:nvPicPr>
        <p:blipFill>
          <a:blip r:embed="rId7"/>
          <a:stretch>
            <a:fillRect/>
          </a:stretch>
        </p:blipFill>
        <p:spPr>
          <a:xfrm>
            <a:off x="7013448" y="3394329"/>
            <a:ext cx="1567814" cy="224790"/>
          </a:xfrm>
          <a:prstGeom prst="rect">
            <a:avLst/>
          </a:prstGeom>
        </p:spPr>
      </p:pic>
      <p:sp>
        <p:nvSpPr>
          <p:cNvPr id="20" name="TextBox 19"/>
          <p:cNvSpPr txBox="1"/>
          <p:nvPr/>
        </p:nvSpPr>
        <p:spPr>
          <a:xfrm>
            <a:off x="9418320" y="3236976"/>
            <a:ext cx="2148840" cy="539496"/>
          </a:xfrm>
          <a:prstGeom prst="rect">
            <a:avLst/>
          </a:prstGeom>
          <a:noFill/>
        </p:spPr>
        <p:txBody>
          <a:bodyPr wrap="square" lIns="0" rIns="0" tIns="0" bIns="0" anchor="ctr">
            <a:spAutoFit/>
          </a:bodyPr>
          <a:lstStyle/>
          <a:p>
            <a:pPr algn="l"/>
            <a:r>
              <a:rPr sz="1300" b="0" i="0">
                <a:solidFill>
                  <a:srgbClr val="5B6168"/>
                </a:solidFill>
                <a:latin typeface="Calibri"/>
              </a:rPr>
              <a:t>from the formula</a:t>
            </a:r>
          </a:p>
        </p:txBody>
      </p:sp>
      <p:sp>
        <p:nvSpPr>
          <p:cNvPr id="21" name="Rounded Rectangle 20"/>
          <p:cNvSpPr/>
          <p:nvPr/>
        </p:nvSpPr>
        <p:spPr>
          <a:xfrm>
            <a:off x="6812280" y="3840480"/>
            <a:ext cx="4828032" cy="539496"/>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Equation" descr="\hat{P} = 0.578 \pm 0.008"/>
          <p:cNvPicPr>
            <a:picLocks noChangeAspect="1"/>
          </p:cNvPicPr>
          <p:nvPr/>
        </p:nvPicPr>
        <p:blipFill>
          <a:blip r:embed="rId8"/>
          <a:stretch>
            <a:fillRect/>
          </a:stretch>
        </p:blipFill>
        <p:spPr>
          <a:xfrm>
            <a:off x="7013448" y="3977830"/>
            <a:ext cx="1472565" cy="264795"/>
          </a:xfrm>
          <a:prstGeom prst="rect">
            <a:avLst/>
          </a:prstGeom>
        </p:spPr>
      </p:pic>
      <p:sp>
        <p:nvSpPr>
          <p:cNvPr id="23" name="TextBox 22"/>
          <p:cNvSpPr txBox="1"/>
          <p:nvPr/>
        </p:nvSpPr>
        <p:spPr>
          <a:xfrm>
            <a:off x="9418320" y="3840480"/>
            <a:ext cx="2148840" cy="539496"/>
          </a:xfrm>
          <a:prstGeom prst="rect">
            <a:avLst/>
          </a:prstGeom>
          <a:noFill/>
        </p:spPr>
        <p:txBody>
          <a:bodyPr wrap="square" lIns="0" rIns="0" tIns="0" bIns="0" anchor="ctr">
            <a:spAutoFit/>
          </a:bodyPr>
          <a:lstStyle/>
          <a:p>
            <a:pPr algn="l"/>
            <a:r>
              <a:rPr sz="1300" b="0" i="0">
                <a:solidFill>
                  <a:srgbClr val="5B6168"/>
                </a:solidFill>
                <a:latin typeface="Calibri"/>
              </a:rPr>
              <a:t>Monte Carlo, M = 4000 races</a:t>
            </a:r>
          </a:p>
        </p:txBody>
      </p:sp>
      <p:sp>
        <p:nvSpPr>
          <p:cNvPr id="24" name="TextBox 23"/>
          <p:cNvSpPr txBox="1"/>
          <p:nvPr/>
        </p:nvSpPr>
        <p:spPr>
          <a:xfrm>
            <a:off x="548640" y="4617720"/>
            <a:ext cx="11091672" cy="274320"/>
          </a:xfrm>
          <a:prstGeom prst="rect">
            <a:avLst/>
          </a:prstGeom>
          <a:noFill/>
        </p:spPr>
        <p:txBody>
          <a:bodyPr wrap="square" lIns="0" rIns="0" tIns="0" bIns="0" anchor="t">
            <a:spAutoFit/>
          </a:bodyPr>
          <a:lstStyle/>
          <a:p>
            <a:pPr algn="l"/>
            <a:r>
              <a:rPr sz="1300" b="1" i="0">
                <a:solidFill>
                  <a:srgbClr val="14171A"/>
                </a:solidFill>
                <a:latin typeface="Arial"/>
              </a:rPr>
              <a:t>All 182 driver-races of 2025: recommendation against the team's choice</a:t>
            </a:r>
          </a:p>
        </p:txBody>
      </p:sp>
      <p:sp>
        <p:nvSpPr>
          <p:cNvPr id="25" name="Rounded Rectangle 24"/>
          <p:cNvSpPr/>
          <p:nvPr/>
        </p:nvSpPr>
        <p:spPr>
          <a:xfrm>
            <a:off x="548640" y="4937760"/>
            <a:ext cx="2670048"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983480"/>
            <a:ext cx="2286000" cy="457200"/>
          </a:xfrm>
          <a:prstGeom prst="rect">
            <a:avLst/>
          </a:prstGeom>
          <a:noFill/>
        </p:spPr>
        <p:txBody>
          <a:bodyPr wrap="square" lIns="0" rIns="0" tIns="0" bIns="0" anchor="ctr">
            <a:spAutoFit/>
          </a:bodyPr>
          <a:lstStyle/>
          <a:p>
            <a:pPr algn="l"/>
            <a:r>
              <a:rPr sz="2200" b="1" i="0">
                <a:solidFill>
                  <a:srgbClr val="14171A"/>
                </a:solidFill>
                <a:latin typeface="Arial"/>
              </a:rPr>
              <a:t>65%</a:t>
            </a:r>
          </a:p>
        </p:txBody>
      </p:sp>
      <p:sp>
        <p:nvSpPr>
          <p:cNvPr id="27" name="TextBox 26"/>
          <p:cNvSpPr txBox="1"/>
          <p:nvPr/>
        </p:nvSpPr>
        <p:spPr>
          <a:xfrm>
            <a:off x="731520" y="5458968"/>
            <a:ext cx="2286000" cy="320040"/>
          </a:xfrm>
          <a:prstGeom prst="rect">
            <a:avLst/>
          </a:prstGeom>
          <a:noFill/>
        </p:spPr>
        <p:txBody>
          <a:bodyPr wrap="square" lIns="0" rIns="0" tIns="0" bIns="0" anchor="t">
            <a:spAutoFit/>
          </a:bodyPr>
          <a:lstStyle/>
          <a:p>
            <a:pPr algn="l"/>
            <a:r>
              <a:rPr sz="1300" b="0" i="0">
                <a:solidFill>
                  <a:srgbClr val="5B6168"/>
                </a:solidFill>
                <a:latin typeface="Calibri"/>
              </a:rPr>
              <a:t>same number of stops</a:t>
            </a:r>
          </a:p>
        </p:txBody>
      </p:sp>
      <p:sp>
        <p:nvSpPr>
          <p:cNvPr id="28" name="Rounded Rectangle 27"/>
          <p:cNvSpPr/>
          <p:nvPr/>
        </p:nvSpPr>
        <p:spPr>
          <a:xfrm>
            <a:off x="3355848" y="4937760"/>
            <a:ext cx="2670048"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38728" y="4983480"/>
            <a:ext cx="2286000" cy="457200"/>
          </a:xfrm>
          <a:prstGeom prst="rect">
            <a:avLst/>
          </a:prstGeom>
          <a:noFill/>
        </p:spPr>
        <p:txBody>
          <a:bodyPr wrap="square" lIns="0" rIns="0" tIns="0" bIns="0" anchor="ctr">
            <a:spAutoFit/>
          </a:bodyPr>
          <a:lstStyle/>
          <a:p>
            <a:pPr algn="l"/>
            <a:r>
              <a:rPr sz="2200" b="1" i="0">
                <a:solidFill>
                  <a:srgbClr val="E10600"/>
                </a:solidFill>
                <a:latin typeface="Arial"/>
              </a:rPr>
              <a:t>8.0 laps</a:t>
            </a:r>
          </a:p>
        </p:txBody>
      </p:sp>
      <p:sp>
        <p:nvSpPr>
          <p:cNvPr id="30" name="TextBox 29"/>
          <p:cNvSpPr txBox="1"/>
          <p:nvPr/>
        </p:nvSpPr>
        <p:spPr>
          <a:xfrm>
            <a:off x="3538728" y="5458968"/>
            <a:ext cx="2286000" cy="320040"/>
          </a:xfrm>
          <a:prstGeom prst="rect">
            <a:avLst/>
          </a:prstGeom>
          <a:noFill/>
        </p:spPr>
        <p:txBody>
          <a:bodyPr wrap="square" lIns="0" rIns="0" tIns="0" bIns="0" anchor="t">
            <a:spAutoFit/>
          </a:bodyPr>
          <a:lstStyle/>
          <a:p>
            <a:pPr algn="l"/>
            <a:r>
              <a:rPr sz="1300" b="0" i="0">
                <a:solidFill>
                  <a:srgbClr val="5B6168"/>
                </a:solidFill>
                <a:latin typeface="Calibri"/>
              </a:rPr>
              <a:t>mean distance of first pit lap</a:t>
            </a:r>
          </a:p>
        </p:txBody>
      </p:sp>
      <p:sp>
        <p:nvSpPr>
          <p:cNvPr id="31" name="Rounded Rectangle 30"/>
          <p:cNvSpPr/>
          <p:nvPr/>
        </p:nvSpPr>
        <p:spPr>
          <a:xfrm>
            <a:off x="6163055" y="4937760"/>
            <a:ext cx="2670048"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5936" y="4983480"/>
            <a:ext cx="2286000" cy="457200"/>
          </a:xfrm>
          <a:prstGeom prst="rect">
            <a:avLst/>
          </a:prstGeom>
          <a:noFill/>
        </p:spPr>
        <p:txBody>
          <a:bodyPr wrap="square" lIns="0" rIns="0" tIns="0" bIns="0" anchor="ctr">
            <a:spAutoFit/>
          </a:bodyPr>
          <a:lstStyle/>
          <a:p>
            <a:pPr algn="l"/>
            <a:r>
              <a:rPr sz="2200" b="1" i="0">
                <a:solidFill>
                  <a:srgbClr val="14171A"/>
                </a:solidFill>
                <a:latin typeface="Arial"/>
              </a:rPr>
              <a:t>26%</a:t>
            </a:r>
          </a:p>
        </p:txBody>
      </p:sp>
      <p:sp>
        <p:nvSpPr>
          <p:cNvPr id="33" name="TextBox 32"/>
          <p:cNvSpPr txBox="1"/>
          <p:nvPr/>
        </p:nvSpPr>
        <p:spPr>
          <a:xfrm>
            <a:off x="6345936" y="5458968"/>
            <a:ext cx="2286000" cy="320040"/>
          </a:xfrm>
          <a:prstGeom prst="rect">
            <a:avLst/>
          </a:prstGeom>
          <a:noFill/>
        </p:spPr>
        <p:txBody>
          <a:bodyPr wrap="square" lIns="0" rIns="0" tIns="0" bIns="0" anchor="t">
            <a:spAutoFit/>
          </a:bodyPr>
          <a:lstStyle/>
          <a:p>
            <a:pPr algn="l"/>
            <a:r>
              <a:rPr sz="1300" b="0" i="0">
                <a:solidFill>
                  <a:srgbClr val="5B6168"/>
                </a:solidFill>
                <a:latin typeface="Calibri"/>
              </a:rPr>
              <a:t>within 3 laps</a:t>
            </a:r>
          </a:p>
        </p:txBody>
      </p:sp>
      <p:sp>
        <p:nvSpPr>
          <p:cNvPr id="34" name="Rounded Rectangle 33"/>
          <p:cNvSpPr/>
          <p:nvPr/>
        </p:nvSpPr>
        <p:spPr>
          <a:xfrm>
            <a:off x="8970263" y="4937760"/>
            <a:ext cx="2670048"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53143" y="4983480"/>
            <a:ext cx="2286000" cy="457200"/>
          </a:xfrm>
          <a:prstGeom prst="rect">
            <a:avLst/>
          </a:prstGeom>
          <a:noFill/>
        </p:spPr>
        <p:txBody>
          <a:bodyPr wrap="square" lIns="0" rIns="0" tIns="0" bIns="0" anchor="ctr">
            <a:spAutoFit/>
          </a:bodyPr>
          <a:lstStyle/>
          <a:p>
            <a:pPr algn="l"/>
            <a:r>
              <a:rPr sz="2200" b="1" i="0">
                <a:solidFill>
                  <a:srgbClr val="14171A"/>
                </a:solidFill>
                <a:latin typeface="Arial"/>
              </a:rPr>
              <a:t>2.2 s</a:t>
            </a:r>
          </a:p>
        </p:txBody>
      </p:sp>
      <p:sp>
        <p:nvSpPr>
          <p:cNvPr id="36" name="TextBox 35"/>
          <p:cNvSpPr txBox="1"/>
          <p:nvPr/>
        </p:nvSpPr>
        <p:spPr>
          <a:xfrm>
            <a:off x="9153143" y="5458968"/>
            <a:ext cx="2286000" cy="320040"/>
          </a:xfrm>
          <a:prstGeom prst="rect">
            <a:avLst/>
          </a:prstGeom>
          <a:noFill/>
        </p:spPr>
        <p:txBody>
          <a:bodyPr wrap="square" lIns="0" rIns="0" tIns="0" bIns="0" anchor="t">
            <a:spAutoFit/>
          </a:bodyPr>
          <a:lstStyle/>
          <a:p>
            <a:pPr algn="l"/>
            <a:r>
              <a:rPr sz="1300" b="0" i="0">
                <a:solidFill>
                  <a:srgbClr val="5B6168"/>
                </a:solidFill>
                <a:latin typeface="Calibri"/>
              </a:rPr>
              <a:t>median predicted gain Δ</a:t>
            </a:r>
          </a:p>
        </p:txBody>
      </p:sp>
      <p:sp>
        <p:nvSpPr>
          <p:cNvPr id="37" name="TextBox 36"/>
          <p:cNvSpPr txBox="1"/>
          <p:nvPr/>
        </p:nvSpPr>
        <p:spPr>
          <a:xfrm>
            <a:off x="548640" y="5943600"/>
            <a:ext cx="11091672" cy="274320"/>
          </a:xfrm>
          <a:prstGeom prst="rect">
            <a:avLst/>
          </a:prstGeom>
          <a:noFill/>
        </p:spPr>
        <p:txBody>
          <a:bodyPr wrap="square" lIns="0" rIns="0" tIns="0" bIns="0" anchor="t">
            <a:spAutoFit/>
          </a:bodyPr>
          <a:lstStyle/>
          <a:p>
            <a:pPr algn="l"/>
            <a:r>
              <a:rPr sz="1200" b="0" i="0">
                <a:solidFill>
                  <a:srgbClr val="5B6168"/>
                </a:solidFill>
                <a:latin typeface="Calibri"/>
              </a:rPr>
              <a:t>The standard deviation of Δ treats the two races as independent draws. Sharing the error on the laps both strategies have in common gives 16 s instead of 18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DEMO</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The same mathematics as an animated race</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11</a:t>
            </a:r>
          </a:p>
        </p:txBody>
      </p:sp>
      <p:pic>
        <p:nvPicPr>
          <p:cNvPr id="6" name="Picture 5" descr="race_view.png"/>
          <p:cNvPicPr>
            <a:picLocks noChangeAspect="1"/>
          </p:cNvPicPr>
          <p:nvPr/>
        </p:nvPicPr>
        <p:blipFill>
          <a:blip r:embed="rId3"/>
          <a:stretch>
            <a:fillRect/>
          </a:stretch>
        </p:blipFill>
        <p:spPr>
          <a:xfrm>
            <a:off x="548640" y="1737360"/>
            <a:ext cx="7315200" cy="4091553"/>
          </a:xfrm>
          <a:prstGeom prst="rect">
            <a:avLst/>
          </a:prstGeom>
        </p:spPr>
      </p:pic>
      <p:sp>
        <p:nvSpPr>
          <p:cNvPr id="7" name="Rounded Rectangle 6"/>
          <p:cNvSpPr/>
          <p:nvPr/>
        </p:nvSpPr>
        <p:spPr>
          <a:xfrm>
            <a:off x="8138160" y="1737360"/>
            <a:ext cx="3502152"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Equation" descr="\hat{s},\; s',\; s^{\mathrm{you}}"/>
          <p:cNvPicPr>
            <a:picLocks noChangeAspect="1"/>
          </p:cNvPicPr>
          <p:nvPr/>
        </p:nvPicPr>
        <p:blipFill>
          <a:blip r:embed="rId4"/>
          <a:stretch>
            <a:fillRect/>
          </a:stretch>
        </p:blipFill>
        <p:spPr>
          <a:xfrm>
            <a:off x="8349615" y="2077402"/>
            <a:ext cx="902970" cy="234315"/>
          </a:xfrm>
          <a:prstGeom prst="rect">
            <a:avLst/>
          </a:prstGeom>
        </p:spPr>
      </p:pic>
      <p:sp>
        <p:nvSpPr>
          <p:cNvPr id="9" name="TextBox 8"/>
          <p:cNvSpPr txBox="1"/>
          <p:nvPr/>
        </p:nvSpPr>
        <p:spPr>
          <a:xfrm>
            <a:off x="9464040" y="1865376"/>
            <a:ext cx="2103120" cy="274320"/>
          </a:xfrm>
          <a:prstGeom prst="rect">
            <a:avLst/>
          </a:prstGeom>
          <a:noFill/>
        </p:spPr>
        <p:txBody>
          <a:bodyPr wrap="square" lIns="0" rIns="0" tIns="0" bIns="0" anchor="t">
            <a:spAutoFit/>
          </a:bodyPr>
          <a:lstStyle/>
          <a:p>
            <a:pPr algn="l"/>
            <a:r>
              <a:rPr sz="1400" b="1" i="0">
                <a:solidFill>
                  <a:srgbClr val="14171A"/>
                </a:solidFill>
                <a:latin typeface="Arial"/>
              </a:rPr>
              <a:t>Three strategies race</a:t>
            </a:r>
          </a:p>
        </p:txBody>
      </p:sp>
      <p:sp>
        <p:nvSpPr>
          <p:cNvPr id="10" name="TextBox 9"/>
          <p:cNvSpPr txBox="1"/>
          <p:nvPr/>
        </p:nvSpPr>
        <p:spPr>
          <a:xfrm>
            <a:off x="9464040" y="2148840"/>
            <a:ext cx="2103120" cy="457200"/>
          </a:xfrm>
          <a:prstGeom prst="rect">
            <a:avLst/>
          </a:prstGeom>
          <a:noFill/>
        </p:spPr>
        <p:txBody>
          <a:bodyPr wrap="square" lIns="0" rIns="0" tIns="0" bIns="0" anchor="t">
            <a:spAutoFit/>
          </a:bodyPr>
          <a:lstStyle/>
          <a:p>
            <a:pPr algn="l"/>
            <a:r>
              <a:rPr sz="1200" b="0" i="0">
                <a:solidFill>
                  <a:srgbClr val="5B6168"/>
                </a:solidFill>
                <a:latin typeface="Calibri"/>
              </a:rPr>
              <a:t>The minimiser, the team's, and your own</a:t>
            </a:r>
          </a:p>
        </p:txBody>
      </p:sp>
      <p:sp>
        <p:nvSpPr>
          <p:cNvPr id="11" name="Rounded Rectangle 10"/>
          <p:cNvSpPr/>
          <p:nvPr/>
        </p:nvSpPr>
        <p:spPr>
          <a:xfrm>
            <a:off x="8138160" y="2770632"/>
            <a:ext cx="3502152"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Equation" descr="\hat{T}_\ell"/>
          <p:cNvPicPr>
            <a:picLocks noChangeAspect="1"/>
          </p:cNvPicPr>
          <p:nvPr/>
        </p:nvPicPr>
        <p:blipFill>
          <a:blip r:embed="rId5"/>
          <a:stretch>
            <a:fillRect/>
          </a:stretch>
        </p:blipFill>
        <p:spPr>
          <a:xfrm>
            <a:off x="8690610" y="3095434"/>
            <a:ext cx="220980" cy="264795"/>
          </a:xfrm>
          <a:prstGeom prst="rect">
            <a:avLst/>
          </a:prstGeom>
        </p:spPr>
      </p:pic>
      <p:sp>
        <p:nvSpPr>
          <p:cNvPr id="13" name="TextBox 12"/>
          <p:cNvSpPr txBox="1"/>
          <p:nvPr/>
        </p:nvSpPr>
        <p:spPr>
          <a:xfrm>
            <a:off x="9464040" y="2898648"/>
            <a:ext cx="2103120" cy="274320"/>
          </a:xfrm>
          <a:prstGeom prst="rect">
            <a:avLst/>
          </a:prstGeom>
          <a:noFill/>
        </p:spPr>
        <p:txBody>
          <a:bodyPr wrap="square" lIns="0" rIns="0" tIns="0" bIns="0" anchor="t">
            <a:spAutoFit/>
          </a:bodyPr>
          <a:lstStyle/>
          <a:p>
            <a:pPr algn="l"/>
            <a:r>
              <a:rPr sz="1400" b="1" i="0">
                <a:solidFill>
                  <a:srgbClr val="14171A"/>
                </a:solidFill>
                <a:latin typeface="Arial"/>
              </a:rPr>
              <a:t>Every lap is a prediction</a:t>
            </a:r>
          </a:p>
        </p:txBody>
      </p:sp>
      <p:sp>
        <p:nvSpPr>
          <p:cNvPr id="14" name="TextBox 13"/>
          <p:cNvSpPr txBox="1"/>
          <p:nvPr/>
        </p:nvSpPr>
        <p:spPr>
          <a:xfrm>
            <a:off x="9464040" y="3182112"/>
            <a:ext cx="2103120" cy="457200"/>
          </a:xfrm>
          <a:prstGeom prst="rect">
            <a:avLst/>
          </a:prstGeom>
          <a:noFill/>
        </p:spPr>
        <p:txBody>
          <a:bodyPr wrap="square" lIns="0" rIns="0" tIns="0" bIns="0" anchor="t">
            <a:spAutoFit/>
          </a:bodyPr>
          <a:lstStyle/>
          <a:p>
            <a:pPr algn="l"/>
            <a:r>
              <a:rPr sz="1200" b="0" i="0">
                <a:solidFill>
                  <a:srgbClr val="5B6168"/>
                </a:solidFill>
                <a:latin typeface="Calibri"/>
              </a:rPr>
              <a:t>Baseline pace scaled by the model</a:t>
            </a:r>
          </a:p>
        </p:txBody>
      </p:sp>
      <p:sp>
        <p:nvSpPr>
          <p:cNvPr id="15" name="Rounded Rectangle 14"/>
          <p:cNvSpPr/>
          <p:nvPr/>
        </p:nvSpPr>
        <p:spPr>
          <a:xfrm>
            <a:off x="8138160" y="3803904"/>
            <a:ext cx="3502152"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Equation" descr="b_j,\; \varepsilon_\ell"/>
          <p:cNvPicPr>
            <a:picLocks noChangeAspect="1"/>
          </p:cNvPicPr>
          <p:nvPr/>
        </p:nvPicPr>
        <p:blipFill>
          <a:blip r:embed="rId6"/>
          <a:stretch>
            <a:fillRect/>
          </a:stretch>
        </p:blipFill>
        <p:spPr>
          <a:xfrm>
            <a:off x="8560117" y="4143946"/>
            <a:ext cx="481965" cy="234315"/>
          </a:xfrm>
          <a:prstGeom prst="rect">
            <a:avLst/>
          </a:prstGeom>
        </p:spPr>
      </p:pic>
      <p:sp>
        <p:nvSpPr>
          <p:cNvPr id="17" name="TextBox 16"/>
          <p:cNvSpPr txBox="1"/>
          <p:nvPr/>
        </p:nvSpPr>
        <p:spPr>
          <a:xfrm>
            <a:off x="9464040" y="3931920"/>
            <a:ext cx="2103120" cy="274320"/>
          </a:xfrm>
          <a:prstGeom prst="rect">
            <a:avLst/>
          </a:prstGeom>
          <a:noFill/>
        </p:spPr>
        <p:txBody>
          <a:bodyPr wrap="square" lIns="0" rIns="0" tIns="0" bIns="0" anchor="t">
            <a:spAutoFit/>
          </a:bodyPr>
          <a:lstStyle/>
          <a:p>
            <a:pPr algn="l"/>
            <a:r>
              <a:rPr sz="1400" b="1" i="0">
                <a:solidFill>
                  <a:srgbClr val="14171A"/>
                </a:solidFill>
                <a:latin typeface="Arial"/>
              </a:rPr>
              <a:t>Random races</a:t>
            </a:r>
          </a:p>
        </p:txBody>
      </p:sp>
      <p:sp>
        <p:nvSpPr>
          <p:cNvPr id="18" name="TextBox 17"/>
          <p:cNvSpPr txBox="1"/>
          <p:nvPr/>
        </p:nvSpPr>
        <p:spPr>
          <a:xfrm>
            <a:off x="9464040" y="4215384"/>
            <a:ext cx="2103120" cy="457200"/>
          </a:xfrm>
          <a:prstGeom prst="rect">
            <a:avLst/>
          </a:prstGeom>
          <a:noFill/>
        </p:spPr>
        <p:txBody>
          <a:bodyPr wrap="square" lIns="0" rIns="0" tIns="0" bIns="0" anchor="t">
            <a:spAutoFit/>
          </a:bodyPr>
          <a:lstStyle/>
          <a:p>
            <a:pPr algn="l"/>
            <a:r>
              <a:rPr sz="1200" b="0" i="0">
                <a:solidFill>
                  <a:srgbClr val="5B6168"/>
                </a:solidFill>
                <a:latin typeface="Calibri"/>
              </a:rPr>
              <a:t>One Monte Carlo draw of stint and lap error</a:t>
            </a:r>
          </a:p>
        </p:txBody>
      </p:sp>
      <p:sp>
        <p:nvSpPr>
          <p:cNvPr id="19" name="Rounded Rectangle 18"/>
          <p:cNvSpPr/>
          <p:nvPr/>
        </p:nvSpPr>
        <p:spPr>
          <a:xfrm>
            <a:off x="8138160" y="4837175"/>
            <a:ext cx="3502152" cy="9144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Equation" descr="\hat{R}(s)"/>
          <p:cNvPicPr>
            <a:picLocks noChangeAspect="1"/>
          </p:cNvPicPr>
          <p:nvPr/>
        </p:nvPicPr>
        <p:blipFill>
          <a:blip r:embed="rId7"/>
          <a:stretch>
            <a:fillRect/>
          </a:stretch>
        </p:blipFill>
        <p:spPr>
          <a:xfrm>
            <a:off x="8592502" y="5161025"/>
            <a:ext cx="417195" cy="266700"/>
          </a:xfrm>
          <a:prstGeom prst="rect">
            <a:avLst/>
          </a:prstGeom>
        </p:spPr>
      </p:pic>
      <p:sp>
        <p:nvSpPr>
          <p:cNvPr id="21" name="TextBox 20"/>
          <p:cNvSpPr txBox="1"/>
          <p:nvPr/>
        </p:nvSpPr>
        <p:spPr>
          <a:xfrm>
            <a:off x="9464040" y="4965191"/>
            <a:ext cx="2103120" cy="274320"/>
          </a:xfrm>
          <a:prstGeom prst="rect">
            <a:avLst/>
          </a:prstGeom>
          <a:noFill/>
        </p:spPr>
        <p:txBody>
          <a:bodyPr wrap="square" lIns="0" rIns="0" tIns="0" bIns="0" anchor="t">
            <a:spAutoFit/>
          </a:bodyPr>
          <a:lstStyle/>
          <a:p>
            <a:pPr algn="l"/>
            <a:r>
              <a:rPr sz="1400" b="1" i="0">
                <a:solidFill>
                  <a:srgbClr val="14171A"/>
                </a:solidFill>
                <a:latin typeface="Arial"/>
              </a:rPr>
              <a:t>Live running order</a:t>
            </a:r>
          </a:p>
        </p:txBody>
      </p:sp>
      <p:sp>
        <p:nvSpPr>
          <p:cNvPr id="22" name="TextBox 21"/>
          <p:cNvSpPr txBox="1"/>
          <p:nvPr/>
        </p:nvSpPr>
        <p:spPr>
          <a:xfrm>
            <a:off x="9464040" y="5248655"/>
            <a:ext cx="2103120" cy="457200"/>
          </a:xfrm>
          <a:prstGeom prst="rect">
            <a:avLst/>
          </a:prstGeom>
          <a:noFill/>
        </p:spPr>
        <p:txBody>
          <a:bodyPr wrap="square" lIns="0" rIns="0" tIns="0" bIns="0" anchor="t">
            <a:spAutoFit/>
          </a:bodyPr>
          <a:lstStyle/>
          <a:p>
            <a:pPr algn="l"/>
            <a:r>
              <a:rPr sz="1200" b="0" i="0">
                <a:solidFill>
                  <a:srgbClr val="5B6168"/>
                </a:solidFill>
                <a:latin typeface="Calibri"/>
              </a:rPr>
              <a:t>Cumulative predicted time, gap to the leader</a:t>
            </a:r>
          </a:p>
        </p:txBody>
      </p:sp>
      <p:sp>
        <p:nvSpPr>
          <p:cNvPr id="23" name="TextBox 22"/>
          <p:cNvSpPr txBox="1"/>
          <p:nvPr/>
        </p:nvSpPr>
        <p:spPr>
          <a:xfrm>
            <a:off x="548640" y="5897880"/>
            <a:ext cx="7315200" cy="320040"/>
          </a:xfrm>
          <a:prstGeom prst="rect">
            <a:avLst/>
          </a:prstGeom>
          <a:noFill/>
        </p:spPr>
        <p:txBody>
          <a:bodyPr wrap="square" lIns="0" rIns="0" tIns="0" bIns="0" anchor="t">
            <a:spAutoFit/>
          </a:bodyPr>
          <a:lstStyle/>
          <a:p>
            <a:pPr algn="l"/>
            <a:r>
              <a:rPr sz="1200" b="0" i="0">
                <a:solidFill>
                  <a:srgbClr val="5B6168"/>
                </a:solidFill>
                <a:latin typeface="Calibri"/>
              </a:rPr>
              <a:t>Circuit outlines are real. Start-line position and direction of travel are illustrative.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E10600"/>
                </a:solidFill>
                <a:latin typeface="Arial"/>
              </a:rPr>
              <a:t>LIMITATIONS</a:t>
            </a:r>
          </a:p>
        </p:txBody>
      </p:sp>
      <p:sp>
        <p:nvSpPr>
          <p:cNvPr id="3" name="TextBox 2"/>
          <p:cNvSpPr txBox="1"/>
          <p:nvPr/>
        </p:nvSpPr>
        <p:spPr>
          <a:xfrm>
            <a:off x="548640" y="676656"/>
            <a:ext cx="11064240" cy="685800"/>
          </a:xfrm>
          <a:prstGeom prst="rect">
            <a:avLst/>
          </a:prstGeom>
          <a:noFill/>
        </p:spPr>
        <p:txBody>
          <a:bodyPr wrap="square" lIns="0" rIns="0" tIns="0" bIns="0" anchor="ctr">
            <a:spAutoFit/>
          </a:bodyPr>
          <a:lstStyle/>
          <a:p>
            <a:pPr algn="l"/>
            <a:r>
              <a:rPr sz="3000" b="1" i="0">
                <a:solidFill>
                  <a:srgbClr val="14171A"/>
                </a:solidFill>
                <a:latin typeface="Arial"/>
              </a:rPr>
              <a:t>Where the assumptions fail</a:t>
            </a:r>
          </a:p>
        </p:txBody>
      </p:sp>
      <p:sp>
        <p:nvSpPr>
          <p:cNvPr id="4" name="TextBox 3"/>
          <p:cNvSpPr txBox="1"/>
          <p:nvPr/>
        </p:nvSpPr>
        <p:spPr>
          <a:xfrm>
            <a:off x="548640" y="6382512"/>
            <a:ext cx="5486400" cy="237744"/>
          </a:xfrm>
          <a:prstGeom prst="rect">
            <a:avLst/>
          </a:prstGeom>
          <a:noFill/>
        </p:spPr>
        <p:txBody>
          <a:bodyPr wrap="square" lIns="0" rIns="0" tIns="0" bIns="0" anchor="t">
            <a:spAutoFit/>
          </a:bodyPr>
          <a:lstStyle/>
          <a:p>
            <a:pPr algn="l"/>
            <a:r>
              <a:rPr sz="1000" b="0" i="0">
                <a:solidFill>
                  <a:srgbClr val="5B6168"/>
                </a:solidFill>
                <a:latin typeface="Calibri"/>
              </a:rPr>
              <a:t>F1 Race Strategy Simulator</a:t>
            </a:r>
          </a:p>
        </p:txBody>
      </p:sp>
      <p:sp>
        <p:nvSpPr>
          <p:cNvPr id="5" name="TextBox 4"/>
          <p:cNvSpPr txBox="1"/>
          <p:nvPr/>
        </p:nvSpPr>
        <p:spPr>
          <a:xfrm>
            <a:off x="10725912" y="6382512"/>
            <a:ext cx="914400" cy="237744"/>
          </a:xfrm>
          <a:prstGeom prst="rect">
            <a:avLst/>
          </a:prstGeom>
          <a:noFill/>
        </p:spPr>
        <p:txBody>
          <a:bodyPr wrap="square" lIns="0" rIns="0" tIns="0" bIns="0" anchor="t">
            <a:spAutoFit/>
          </a:bodyPr>
          <a:lstStyle/>
          <a:p>
            <a:pPr algn="r"/>
            <a:r>
              <a:rPr sz="1000" b="0" i="0">
                <a:solidFill>
                  <a:srgbClr val="5B6168"/>
                </a:solidFill>
                <a:latin typeface="Calibri"/>
              </a:rPr>
              <a:t>12</a:t>
            </a:r>
          </a:p>
        </p:txBody>
      </p:sp>
      <p:sp>
        <p:nvSpPr>
          <p:cNvPr id="6" name="Rounded Rectangle 5"/>
          <p:cNvSpPr/>
          <p:nvPr/>
        </p:nvSpPr>
        <p:spPr>
          <a:xfrm>
            <a:off x="548640" y="1691640"/>
            <a:ext cx="5458968" cy="1719072"/>
          </a:xfrm>
          <a:prstGeom prst="roundRect">
            <a:avLst>
              <a:gd name="adj" fmla="val 74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892808"/>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8" name="TextBox 7"/>
          <p:cNvSpPr txBox="1"/>
          <p:nvPr/>
        </p:nvSpPr>
        <p:spPr>
          <a:xfrm>
            <a:off x="1325880" y="1892808"/>
            <a:ext cx="4480560" cy="384048"/>
          </a:xfrm>
          <a:prstGeom prst="rect">
            <a:avLst/>
          </a:prstGeom>
          <a:noFill/>
        </p:spPr>
        <p:txBody>
          <a:bodyPr wrap="square" lIns="0" rIns="0" tIns="0" bIns="0" anchor="ctr">
            <a:spAutoFit/>
          </a:bodyPr>
          <a:lstStyle/>
          <a:p>
            <a:pPr algn="l"/>
            <a:r>
              <a:rPr sz="1500" b="1" i="0">
                <a:solidFill>
                  <a:srgbClr val="14171A"/>
                </a:solidFill>
                <a:latin typeface="Arial"/>
              </a:rPr>
              <a:t>Selection in tyre data</a:t>
            </a:r>
          </a:p>
        </p:txBody>
      </p:sp>
      <p:pic>
        <p:nvPicPr>
          <p:cNvPr id="9" name="Equation" descr="\mathbb{E}\,[\,y \mid a,\; \mathrm{stint} \geq a\,] \;\leq\; \mathbb{E}\,[\,y \mid a\,]"/>
          <p:cNvPicPr>
            <a:picLocks noChangeAspect="1"/>
          </p:cNvPicPr>
          <p:nvPr/>
        </p:nvPicPr>
        <p:blipFill>
          <a:blip r:embed="rId3"/>
          <a:stretch>
            <a:fillRect/>
          </a:stretch>
        </p:blipFill>
        <p:spPr>
          <a:xfrm>
            <a:off x="1325880" y="2429637"/>
            <a:ext cx="2505075" cy="224790"/>
          </a:xfrm>
          <a:prstGeom prst="rect">
            <a:avLst/>
          </a:prstGeom>
        </p:spPr>
      </p:pic>
      <p:sp>
        <p:nvSpPr>
          <p:cNvPr id="10" name="TextBox 9"/>
          <p:cNvSpPr txBox="1"/>
          <p:nvPr/>
        </p:nvSpPr>
        <p:spPr>
          <a:xfrm>
            <a:off x="1325880" y="2807208"/>
            <a:ext cx="4480560" cy="548640"/>
          </a:xfrm>
          <a:prstGeom prst="rect">
            <a:avLst/>
          </a:prstGeom>
          <a:noFill/>
        </p:spPr>
        <p:txBody>
          <a:bodyPr wrap="square" lIns="0" rIns="0" tIns="0" bIns="0" anchor="t">
            <a:spAutoFit/>
          </a:bodyPr>
          <a:lstStyle/>
          <a:p>
            <a:pPr algn="l"/>
            <a:r>
              <a:rPr sz="1300" b="0" i="0">
                <a:solidFill>
                  <a:srgbClr val="5B6168"/>
                </a:solidFill>
                <a:latin typeface="Calibri"/>
              </a:rPr>
              <a:t>Old tyres are seen only when they lasted. Stops come out later than the team's in 66% of cases, by 4.3 laps on average.</a:t>
            </a:r>
          </a:p>
        </p:txBody>
      </p:sp>
      <p:sp>
        <p:nvSpPr>
          <p:cNvPr id="11" name="Rounded Rectangle 10"/>
          <p:cNvSpPr/>
          <p:nvPr/>
        </p:nvSpPr>
        <p:spPr>
          <a:xfrm>
            <a:off x="6181344" y="1691640"/>
            <a:ext cx="5458968" cy="1719072"/>
          </a:xfrm>
          <a:prstGeom prst="roundRect">
            <a:avLst>
              <a:gd name="adj" fmla="val 74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9944" y="1892808"/>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13" name="TextBox 12"/>
          <p:cNvSpPr txBox="1"/>
          <p:nvPr/>
        </p:nvSpPr>
        <p:spPr>
          <a:xfrm>
            <a:off x="6958583" y="1892808"/>
            <a:ext cx="4480560" cy="384048"/>
          </a:xfrm>
          <a:prstGeom prst="rect">
            <a:avLst/>
          </a:prstGeom>
          <a:noFill/>
        </p:spPr>
        <p:txBody>
          <a:bodyPr wrap="square" lIns="0" rIns="0" tIns="0" bIns="0" anchor="ctr">
            <a:spAutoFit/>
          </a:bodyPr>
          <a:lstStyle/>
          <a:p>
            <a:pPr algn="l"/>
            <a:r>
              <a:rPr sz="1500" b="1" i="0">
                <a:solidFill>
                  <a:srgbClr val="14171A"/>
                </a:solidFill>
                <a:latin typeface="Arial"/>
              </a:rPr>
              <a:t>Omitted variables</a:t>
            </a:r>
          </a:p>
        </p:txBody>
      </p:sp>
      <p:pic>
        <p:nvPicPr>
          <p:cNvPr id="14" name="Equation" descr="y \;=\; f(x) \;+\; g(u) \;+\; \varepsilon,\qquad u\ \mathrm{unobserved}"/>
          <p:cNvPicPr>
            <a:picLocks noChangeAspect="1"/>
          </p:cNvPicPr>
          <p:nvPr/>
        </p:nvPicPr>
        <p:blipFill>
          <a:blip r:embed="rId4"/>
          <a:stretch>
            <a:fillRect/>
          </a:stretch>
        </p:blipFill>
        <p:spPr>
          <a:xfrm>
            <a:off x="6958583" y="2429637"/>
            <a:ext cx="3486150" cy="224790"/>
          </a:xfrm>
          <a:prstGeom prst="rect">
            <a:avLst/>
          </a:prstGeom>
        </p:spPr>
      </p:pic>
      <p:sp>
        <p:nvSpPr>
          <p:cNvPr id="15" name="TextBox 14"/>
          <p:cNvSpPr txBox="1"/>
          <p:nvPr/>
        </p:nvSpPr>
        <p:spPr>
          <a:xfrm>
            <a:off x="6958583" y="2807208"/>
            <a:ext cx="4480560" cy="548640"/>
          </a:xfrm>
          <a:prstGeom prst="rect">
            <a:avLst/>
          </a:prstGeom>
          <a:noFill/>
        </p:spPr>
        <p:txBody>
          <a:bodyPr wrap="square" lIns="0" rIns="0" tIns="0" bIns="0" anchor="t">
            <a:spAutoFit/>
          </a:bodyPr>
          <a:lstStyle/>
          <a:p>
            <a:pPr algn="l"/>
            <a:r>
              <a:rPr sz="1300" b="0" i="0">
                <a:solidFill>
                  <a:srgbClr val="5B6168"/>
                </a:solidFill>
                <a:latin typeface="Calibri"/>
              </a:rPr>
              <a:t>Traffic and track position are not in the data (R² = 0.44). Teams stop early to gain position; the model sees clean air only.</a:t>
            </a:r>
          </a:p>
        </p:txBody>
      </p:sp>
      <p:sp>
        <p:nvSpPr>
          <p:cNvPr id="16" name="Rounded Rectangle 15"/>
          <p:cNvSpPr/>
          <p:nvPr/>
        </p:nvSpPr>
        <p:spPr>
          <a:xfrm>
            <a:off x="548640" y="3538728"/>
            <a:ext cx="5458968" cy="1719072"/>
          </a:xfrm>
          <a:prstGeom prst="roundRect">
            <a:avLst>
              <a:gd name="adj" fmla="val 74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3739896"/>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8" name="TextBox 17"/>
          <p:cNvSpPr txBox="1"/>
          <p:nvPr/>
        </p:nvSpPr>
        <p:spPr>
          <a:xfrm>
            <a:off x="1325880" y="3739896"/>
            <a:ext cx="4480560" cy="384048"/>
          </a:xfrm>
          <a:prstGeom prst="rect">
            <a:avLst/>
          </a:prstGeom>
          <a:noFill/>
        </p:spPr>
        <p:txBody>
          <a:bodyPr wrap="square" lIns="0" rIns="0" tIns="0" bIns="0" anchor="ctr">
            <a:spAutoFit/>
          </a:bodyPr>
          <a:lstStyle/>
          <a:p>
            <a:pPr algn="l"/>
            <a:r>
              <a:rPr sz="1500" b="1" i="0">
                <a:solidFill>
                  <a:srgbClr val="14171A"/>
                </a:solidFill>
                <a:latin typeface="Arial"/>
              </a:rPr>
              <a:t>A regime that is not modelled</a:t>
            </a:r>
          </a:p>
        </p:txBody>
      </p:sp>
      <p:pic>
        <p:nvPicPr>
          <p:cNvPr id="19" name="Equation" descr="P \;\to\; P_{\mathrm{SC}} \;&lt;\; P \quad \mathrm{under\ a\ safety\ car}"/>
          <p:cNvPicPr>
            <a:picLocks noChangeAspect="1"/>
          </p:cNvPicPr>
          <p:nvPr/>
        </p:nvPicPr>
        <p:blipFill>
          <a:blip r:embed="rId5"/>
          <a:stretch>
            <a:fillRect/>
          </a:stretch>
        </p:blipFill>
        <p:spPr>
          <a:xfrm>
            <a:off x="1325880" y="4276725"/>
            <a:ext cx="2979419" cy="224790"/>
          </a:xfrm>
          <a:prstGeom prst="rect">
            <a:avLst/>
          </a:prstGeom>
        </p:spPr>
      </p:pic>
      <p:sp>
        <p:nvSpPr>
          <p:cNvPr id="20" name="TextBox 19"/>
          <p:cNvSpPr txBox="1"/>
          <p:nvPr/>
        </p:nvSpPr>
        <p:spPr>
          <a:xfrm>
            <a:off x="1325880" y="4654296"/>
            <a:ext cx="4480560" cy="548640"/>
          </a:xfrm>
          <a:prstGeom prst="rect">
            <a:avLst/>
          </a:prstGeom>
          <a:noFill/>
        </p:spPr>
        <p:txBody>
          <a:bodyPr wrap="square" lIns="0" rIns="0" tIns="0" bIns="0" anchor="t">
            <a:spAutoFit/>
          </a:bodyPr>
          <a:lstStyle/>
          <a:p>
            <a:pPr algn="l"/>
            <a:r>
              <a:rPr sz="1300" b="0" i="0">
                <a:solidFill>
                  <a:srgbClr val="5B6168"/>
                </a:solidFill>
                <a:latin typeface="Calibri"/>
              </a:rPr>
              <a:t>Safety cars make a stop cheaper and decide many races. Race time could be checked on 60 of 182 driver-races only.</a:t>
            </a:r>
          </a:p>
        </p:txBody>
      </p:sp>
      <p:sp>
        <p:nvSpPr>
          <p:cNvPr id="21" name="Rounded Rectangle 20"/>
          <p:cNvSpPr/>
          <p:nvPr/>
        </p:nvSpPr>
        <p:spPr>
          <a:xfrm>
            <a:off x="6181344" y="3538728"/>
            <a:ext cx="5458968" cy="1719072"/>
          </a:xfrm>
          <a:prstGeom prst="roundRect">
            <a:avLst>
              <a:gd name="adj" fmla="val 7446"/>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9944" y="3739896"/>
            <a:ext cx="384048" cy="384048"/>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4</a:t>
            </a:r>
          </a:p>
        </p:txBody>
      </p:sp>
      <p:sp>
        <p:nvSpPr>
          <p:cNvPr id="23" name="TextBox 22"/>
          <p:cNvSpPr txBox="1"/>
          <p:nvPr/>
        </p:nvSpPr>
        <p:spPr>
          <a:xfrm>
            <a:off x="6958583" y="3739896"/>
            <a:ext cx="4480560" cy="384048"/>
          </a:xfrm>
          <a:prstGeom prst="rect">
            <a:avLst/>
          </a:prstGeom>
          <a:noFill/>
        </p:spPr>
        <p:txBody>
          <a:bodyPr wrap="square" lIns="0" rIns="0" tIns="0" bIns="0" anchor="ctr">
            <a:spAutoFit/>
          </a:bodyPr>
          <a:lstStyle/>
          <a:p>
            <a:pPr algn="l"/>
            <a:r>
              <a:rPr sz="1500" b="1" i="0">
                <a:solidFill>
                  <a:srgbClr val="14171A"/>
                </a:solidFill>
                <a:latin typeface="Arial"/>
              </a:rPr>
              <a:t>Resolution of the decision</a:t>
            </a:r>
          </a:p>
        </p:txBody>
      </p:sp>
      <p:pic>
        <p:nvPicPr>
          <p:cNvPr id="24" name="Equation" descr="|\Delta| \approx 2\ \mathrm{s} \;\ll\; \sigma_\Delta \approx 18\ \mathrm{s}"/>
          <p:cNvPicPr>
            <a:picLocks noChangeAspect="1"/>
          </p:cNvPicPr>
          <p:nvPr/>
        </p:nvPicPr>
        <p:blipFill>
          <a:blip r:embed="rId6"/>
          <a:stretch>
            <a:fillRect/>
          </a:stretch>
        </p:blipFill>
        <p:spPr>
          <a:xfrm>
            <a:off x="6958583" y="4276725"/>
            <a:ext cx="1914525" cy="224790"/>
          </a:xfrm>
          <a:prstGeom prst="rect">
            <a:avLst/>
          </a:prstGeom>
        </p:spPr>
      </p:pic>
      <p:sp>
        <p:nvSpPr>
          <p:cNvPr id="25" name="TextBox 24"/>
          <p:cNvSpPr txBox="1"/>
          <p:nvPr/>
        </p:nvSpPr>
        <p:spPr>
          <a:xfrm>
            <a:off x="6958583" y="4654296"/>
            <a:ext cx="4480560" cy="548640"/>
          </a:xfrm>
          <a:prstGeom prst="rect">
            <a:avLst/>
          </a:prstGeom>
          <a:noFill/>
        </p:spPr>
        <p:txBody>
          <a:bodyPr wrap="square" lIns="0" rIns="0" tIns="0" bIns="0" anchor="t">
            <a:spAutoFit/>
          </a:bodyPr>
          <a:lstStyle/>
          <a:p>
            <a:pPr algn="l"/>
            <a:r>
              <a:rPr sz="1300" b="0" i="0">
                <a:solidFill>
                  <a:srgbClr val="5B6168"/>
                </a:solidFill>
                <a:latin typeface="Calibri"/>
              </a:rPr>
              <a:t>Differences between good strategies are far inside the error. The team's choice is a reference, not a proven optimum.</a:t>
            </a:r>
          </a:p>
        </p:txBody>
      </p:sp>
      <p:sp>
        <p:nvSpPr>
          <p:cNvPr id="26" name="Rounded Rectangle 25"/>
          <p:cNvSpPr/>
          <p:nvPr/>
        </p:nvSpPr>
        <p:spPr>
          <a:xfrm>
            <a:off x="548640" y="5413248"/>
            <a:ext cx="11091672" cy="731520"/>
          </a:xfrm>
          <a:prstGeom prst="roundRect">
            <a:avLst>
              <a:gd name="adj" fmla="val 8000"/>
            </a:avLst>
          </a:prstGeom>
          <a:solidFill>
            <a:srgbClr val="141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413248"/>
            <a:ext cx="10424160" cy="731520"/>
          </a:xfrm>
          <a:prstGeom prst="rect">
            <a:avLst/>
          </a:prstGeom>
          <a:noFill/>
        </p:spPr>
        <p:txBody>
          <a:bodyPr wrap="square" lIns="0" rIns="0" tIns="0" bIns="0" anchor="ctr">
            <a:spAutoFit/>
          </a:bodyPr>
          <a:lstStyle/>
          <a:p>
            <a:pPr algn="l"/>
            <a:r>
              <a:rPr sz="1500" b="0" i="0">
                <a:solidFill>
                  <a:srgbClr val="FFFFFF"/>
                </a:solidFill>
                <a:latin typeface="Calibri"/>
              </a:rPr>
              <a:t>Next: a survival model for stint length, a safety-car scenario with its own pit loss, and a traffic term.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1005840"/>
            <a:ext cx="5486400" cy="274320"/>
          </a:xfrm>
          <a:prstGeom prst="rect">
            <a:avLst/>
          </a:prstGeom>
          <a:noFill/>
        </p:spPr>
        <p:txBody>
          <a:bodyPr wrap="square" lIns="0" rIns="0" tIns="0" bIns="0" anchor="t">
            <a:spAutoFit/>
          </a:bodyPr>
          <a:lstStyle/>
          <a:p>
            <a:pPr algn="l"/>
            <a:r>
              <a:rPr sz="1200" b="1" i="0">
                <a:solidFill>
                  <a:srgbClr val="E10600"/>
                </a:solidFill>
                <a:latin typeface="Arial"/>
              </a:rPr>
              <a:t>CONCLUSION</a:t>
            </a:r>
          </a:p>
        </p:txBody>
      </p:sp>
      <p:sp>
        <p:nvSpPr>
          <p:cNvPr id="3" name="TextBox 2"/>
          <p:cNvSpPr txBox="1"/>
          <p:nvPr/>
        </p:nvSpPr>
        <p:spPr>
          <a:xfrm>
            <a:off x="822960" y="1371600"/>
            <a:ext cx="10515600" cy="914400"/>
          </a:xfrm>
          <a:prstGeom prst="rect">
            <a:avLst/>
          </a:prstGeom>
          <a:noFill/>
        </p:spPr>
        <p:txBody>
          <a:bodyPr wrap="square" lIns="0" rIns="0" tIns="0" bIns="0" anchor="t">
            <a:spAutoFit/>
          </a:bodyPr>
          <a:lstStyle/>
          <a:p>
            <a:pPr algn="l"/>
            <a:r>
              <a:rPr sz="4000" b="1" i="0">
                <a:solidFill>
                  <a:srgbClr val="FFFFFF"/>
                </a:solidFill>
                <a:latin typeface="Arial"/>
              </a:rPr>
              <a:t>An accurate model is not yet a decision</a:t>
            </a:r>
          </a:p>
        </p:txBody>
      </p:sp>
      <p:sp>
        <p:nvSpPr>
          <p:cNvPr id="4" name="Oval 3"/>
          <p:cNvSpPr/>
          <p:nvPr/>
        </p:nvSpPr>
        <p:spPr>
          <a:xfrm>
            <a:off x="822960" y="2697480"/>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1</a:t>
            </a:r>
          </a:p>
        </p:txBody>
      </p:sp>
      <p:sp>
        <p:nvSpPr>
          <p:cNvPr id="5" name="TextBox 4"/>
          <p:cNvSpPr txBox="1"/>
          <p:nvPr/>
        </p:nvSpPr>
        <p:spPr>
          <a:xfrm>
            <a:off x="1463040" y="2606040"/>
            <a:ext cx="1463040" cy="603504"/>
          </a:xfrm>
          <a:prstGeom prst="rect">
            <a:avLst/>
          </a:prstGeom>
          <a:noFill/>
        </p:spPr>
        <p:txBody>
          <a:bodyPr wrap="square" lIns="0" rIns="0" tIns="0" bIns="0" anchor="ctr">
            <a:spAutoFit/>
          </a:bodyPr>
          <a:lstStyle/>
          <a:p>
            <a:pPr algn="l"/>
            <a:r>
              <a:rPr sz="1800" b="1" i="0">
                <a:solidFill>
                  <a:srgbClr val="FFFFFF"/>
                </a:solidFill>
                <a:latin typeface="Arial"/>
              </a:rPr>
              <a:t>Lap</a:t>
            </a:r>
          </a:p>
        </p:txBody>
      </p:sp>
      <p:pic>
        <p:nvPicPr>
          <p:cNvPr id="6" name="Equation" descr="\mathrm{RMSE} = 0.835\ \mathrm{s},\quad R^2 = 0.44"/>
          <p:cNvPicPr>
            <a:picLocks noChangeAspect="1"/>
          </p:cNvPicPr>
          <p:nvPr/>
        </p:nvPicPr>
        <p:blipFill>
          <a:blip r:embed="rId2"/>
          <a:stretch>
            <a:fillRect/>
          </a:stretch>
        </p:blipFill>
        <p:spPr>
          <a:xfrm>
            <a:off x="2926080" y="2750947"/>
            <a:ext cx="3139313" cy="313690"/>
          </a:xfrm>
          <a:prstGeom prst="rect">
            <a:avLst/>
          </a:prstGeom>
        </p:spPr>
      </p:pic>
      <p:sp>
        <p:nvSpPr>
          <p:cNvPr id="7" name="TextBox 6"/>
          <p:cNvSpPr txBox="1"/>
          <p:nvPr/>
        </p:nvSpPr>
        <p:spPr>
          <a:xfrm>
            <a:off x="8001000" y="2606040"/>
            <a:ext cx="3566160" cy="603504"/>
          </a:xfrm>
          <a:prstGeom prst="rect">
            <a:avLst/>
          </a:prstGeom>
          <a:noFill/>
        </p:spPr>
        <p:txBody>
          <a:bodyPr wrap="square" lIns="0" rIns="0" tIns="0" bIns="0" anchor="ctr">
            <a:spAutoFit/>
          </a:bodyPr>
          <a:lstStyle/>
          <a:p>
            <a:pPr algn="l"/>
            <a:r>
              <a:rPr sz="1500" b="0" i="0">
                <a:solidFill>
                  <a:srgbClr val="C9CDD2"/>
                </a:solidFill>
                <a:latin typeface="Calibri"/>
              </a:rPr>
              <a:t>Unseen season. Constant pace: 1.558 s.</a:t>
            </a:r>
          </a:p>
        </p:txBody>
      </p:sp>
      <p:sp>
        <p:nvSpPr>
          <p:cNvPr id="8" name="Oval 7"/>
          <p:cNvSpPr/>
          <p:nvPr/>
        </p:nvSpPr>
        <p:spPr>
          <a:xfrm>
            <a:off x="822960" y="3593592"/>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2</a:t>
            </a:r>
          </a:p>
        </p:txBody>
      </p:sp>
      <p:sp>
        <p:nvSpPr>
          <p:cNvPr id="9" name="TextBox 8"/>
          <p:cNvSpPr txBox="1"/>
          <p:nvPr/>
        </p:nvSpPr>
        <p:spPr>
          <a:xfrm>
            <a:off x="1463040" y="3502152"/>
            <a:ext cx="1463040" cy="603504"/>
          </a:xfrm>
          <a:prstGeom prst="rect">
            <a:avLst/>
          </a:prstGeom>
          <a:noFill/>
        </p:spPr>
        <p:txBody>
          <a:bodyPr wrap="square" lIns="0" rIns="0" tIns="0" bIns="0" anchor="ctr">
            <a:spAutoFit/>
          </a:bodyPr>
          <a:lstStyle/>
          <a:p>
            <a:pPr algn="l"/>
            <a:r>
              <a:rPr sz="1800" b="1" i="0">
                <a:solidFill>
                  <a:srgbClr val="FFFFFF"/>
                </a:solidFill>
                <a:latin typeface="Arial"/>
              </a:rPr>
              <a:t>Race</a:t>
            </a:r>
          </a:p>
        </p:txBody>
      </p:sp>
      <p:pic>
        <p:nvPicPr>
          <p:cNvPr id="10" name="Equation" descr="\sigma_R:\ \ 28.0\ \mathrm{s\ predicted},\ \ 27.9\ \mathrm{s\ observed}"/>
          <p:cNvPicPr>
            <a:picLocks noChangeAspect="1"/>
          </p:cNvPicPr>
          <p:nvPr/>
        </p:nvPicPr>
        <p:blipFill>
          <a:blip r:embed="rId3"/>
          <a:stretch>
            <a:fillRect/>
          </a:stretch>
        </p:blipFill>
        <p:spPr>
          <a:xfrm>
            <a:off x="2926080" y="3661537"/>
            <a:ext cx="4191381" cy="284734"/>
          </a:xfrm>
          <a:prstGeom prst="rect">
            <a:avLst/>
          </a:prstGeom>
        </p:spPr>
      </p:pic>
      <p:sp>
        <p:nvSpPr>
          <p:cNvPr id="11" name="TextBox 10"/>
          <p:cNvSpPr txBox="1"/>
          <p:nvPr/>
        </p:nvSpPr>
        <p:spPr>
          <a:xfrm>
            <a:off x="8001000" y="3502152"/>
            <a:ext cx="3566160" cy="603504"/>
          </a:xfrm>
          <a:prstGeom prst="rect">
            <a:avLst/>
          </a:prstGeom>
          <a:noFill/>
        </p:spPr>
        <p:txBody>
          <a:bodyPr wrap="square" lIns="0" rIns="0" tIns="0" bIns="0" anchor="ctr">
            <a:spAutoFit/>
          </a:bodyPr>
          <a:lstStyle/>
          <a:p>
            <a:pPr algn="l"/>
            <a:r>
              <a:rPr sz="1500" b="0" i="0">
                <a:solidFill>
                  <a:srgbClr val="C9CDD2"/>
                </a:solidFill>
                <a:latin typeface="Calibri"/>
              </a:rPr>
              <a:t>The error model holds out of sample.</a:t>
            </a:r>
          </a:p>
        </p:txBody>
      </p:sp>
      <p:sp>
        <p:nvSpPr>
          <p:cNvPr id="12" name="Oval 11"/>
          <p:cNvSpPr/>
          <p:nvPr/>
        </p:nvSpPr>
        <p:spPr>
          <a:xfrm>
            <a:off x="822960" y="4489704"/>
            <a:ext cx="420624" cy="420624"/>
          </a:xfrm>
          <a:prstGeom prst="ellipse">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Arial"/>
              </a:rPr>
              <a:t>3</a:t>
            </a:r>
          </a:p>
        </p:txBody>
      </p:sp>
      <p:sp>
        <p:nvSpPr>
          <p:cNvPr id="13" name="TextBox 12"/>
          <p:cNvSpPr txBox="1"/>
          <p:nvPr/>
        </p:nvSpPr>
        <p:spPr>
          <a:xfrm>
            <a:off x="1463040" y="4398264"/>
            <a:ext cx="1463040" cy="603504"/>
          </a:xfrm>
          <a:prstGeom prst="rect">
            <a:avLst/>
          </a:prstGeom>
          <a:noFill/>
        </p:spPr>
        <p:txBody>
          <a:bodyPr wrap="square" lIns="0" rIns="0" tIns="0" bIns="0" anchor="ctr">
            <a:spAutoFit/>
          </a:bodyPr>
          <a:lstStyle/>
          <a:p>
            <a:pPr algn="l"/>
            <a:r>
              <a:rPr sz="1800" b="1" i="0">
                <a:solidFill>
                  <a:srgbClr val="FFFFFF"/>
                </a:solidFill>
                <a:latin typeface="Arial"/>
              </a:rPr>
              <a:t>Decision</a:t>
            </a:r>
          </a:p>
        </p:txBody>
      </p:sp>
      <p:pic>
        <p:nvPicPr>
          <p:cNvPr id="14" name="Equation" descr="\Delta\,/\,\sigma_\Delta \approx 0.2 \;\;\Rightarrow\;\; P \approx 0.57"/>
          <p:cNvPicPr>
            <a:picLocks noChangeAspect="1"/>
          </p:cNvPicPr>
          <p:nvPr/>
        </p:nvPicPr>
        <p:blipFill>
          <a:blip r:embed="rId4"/>
          <a:stretch>
            <a:fillRect/>
          </a:stretch>
        </p:blipFill>
        <p:spPr>
          <a:xfrm>
            <a:off x="2926080" y="4557649"/>
            <a:ext cx="2803906" cy="284734"/>
          </a:xfrm>
          <a:prstGeom prst="rect">
            <a:avLst/>
          </a:prstGeom>
        </p:spPr>
      </p:pic>
      <p:sp>
        <p:nvSpPr>
          <p:cNvPr id="15" name="TextBox 14"/>
          <p:cNvSpPr txBox="1"/>
          <p:nvPr/>
        </p:nvSpPr>
        <p:spPr>
          <a:xfrm>
            <a:off x="8001000" y="4398264"/>
            <a:ext cx="3566160" cy="603504"/>
          </a:xfrm>
          <a:prstGeom prst="rect">
            <a:avLst/>
          </a:prstGeom>
          <a:noFill/>
        </p:spPr>
        <p:txBody>
          <a:bodyPr wrap="square" lIns="0" rIns="0" tIns="0" bIns="0" anchor="ctr">
            <a:spAutoFit/>
          </a:bodyPr>
          <a:lstStyle/>
          <a:p>
            <a:pPr algn="l"/>
            <a:r>
              <a:rPr sz="1500" b="0" i="0">
                <a:solidFill>
                  <a:srgbClr val="C9CDD2"/>
                </a:solidFill>
                <a:latin typeface="Calibri"/>
              </a:rPr>
              <a:t>The minimiser is not identified.</a:t>
            </a:r>
          </a:p>
        </p:txBody>
      </p:sp>
      <p:sp>
        <p:nvSpPr>
          <p:cNvPr id="16" name="TextBox 15"/>
          <p:cNvSpPr txBox="1"/>
          <p:nvPr/>
        </p:nvSpPr>
        <p:spPr>
          <a:xfrm>
            <a:off x="822960" y="5532120"/>
            <a:ext cx="10515600" cy="457200"/>
          </a:xfrm>
          <a:prstGeom prst="rect">
            <a:avLst/>
          </a:prstGeom>
          <a:noFill/>
        </p:spPr>
        <p:txBody>
          <a:bodyPr wrap="square" lIns="0" rIns="0" tIns="0" bIns="0" anchor="t">
            <a:spAutoFit/>
          </a:bodyPr>
          <a:lstStyle/>
          <a:p>
            <a:pPr algn="l"/>
            <a:r>
              <a:rPr sz="2000" b="1" i="0">
                <a:solidFill>
                  <a:srgbClr val="FFFFFF"/>
                </a:solidFill>
                <a:latin typeface="Arial"/>
              </a:rPr>
              <a:t>Validate a model at the level of the decision it will be used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